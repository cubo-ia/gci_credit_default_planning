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?>
<Relationships xmlns="http://schemas.openxmlformats.org/package/2006/relationships"><Relationship Id="rId1" Type="http://schemas.openxmlformats.org/officeDocument/2006/relationships/officeDocument" Target="ppt/presentation.xml" /><Relationship Id="rId3" Type="http://schemas.openxmlformats.org/package/2006/relationships/metadata/core-properties" Target="docProps/core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CF9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C2A25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38212" y="1307306"/>
            <a:ext cx="622649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5" spc="400" dirty="0">
                <a:solidFill>
                  <a:srgbClr val="6B665D"/>
                </a:solidFill>
                <a:latin typeface="Arial"/>
                <a:ea typeface="Microsoft YaHei"/>
                <a:cs typeface="Arial"/>
              </a:rPr>
              <a:t>GCI GLOBAL 2026 · HOME CREDIT DEFAULT RISK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91540" y="1958340"/>
            <a:ext cx="3948684" cy="975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4800" dirty="0">
                <a:solidFill>
                  <a:srgbClr val="1A1814"/>
                </a:solidFill>
                <a:latin typeface="Georgia"/>
                <a:ea typeface="SimSun"/>
                <a:cs typeface="Georgia"/>
              </a:rPr>
              <a:t>Modelos 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91540" y="2672715"/>
            <a:ext cx="7322820" cy="975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4800" dirty="0">
                <a:solidFill>
                  <a:srgbClr val="1A1814"/>
                </a:solidFill>
                <a:latin typeface="Georgia"/>
                <a:ea typeface="SimSun"/>
                <a:cs typeface="Georgia"/>
              </a:rPr>
              <a:t>preprocesamiento</a:t>
            </a:r>
          </a:p>
        </p:txBody>
      </p:sp>
      <p:sp>
        <p:nvSpPr>
          <p:cNvPr id="7" name="Line 7"/>
          <p:cNvSpPr/>
          <p:nvPr/>
        </p:nvSpPr>
        <p:spPr>
          <a:xfrm>
            <a:off x="952500" y="3619500"/>
            <a:ext cx="2667000" cy="9525"/>
          </a:xfrm>
          <a:custGeom>
            <a:avLst/>
            <a:gdLst/>
            <a:ahLst/>
            <a:cxnLst/>
            <a:rect l="l" t="t" r="r" b="b"/>
            <a:pathLst>
              <a:path w="2667000" h="9525">
                <a:moveTo>
                  <a:pt x="0" y="0"/>
                </a:moveTo>
                <a:lnTo>
                  <a:pt x="2667000" y="0"/>
                </a:lnTo>
              </a:path>
            </a:pathLst>
          </a:custGeom>
          <a:noFill/>
          <a:ln w="28575">
            <a:solidFill>
              <a:srgbClr val="2C2A25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933450" y="3933825"/>
            <a:ext cx="744474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dirty="0">
                <a:solidFill>
                  <a:srgbClr val="4A4640"/>
                </a:solidFill>
                <a:latin typeface="Arial"/>
                <a:ea typeface="Microsoft YaHei"/>
                <a:cs typeface="Arial"/>
              </a:rPr>
              <a:t>Qué vamos a modelar, con qué y cómo preparamos los datos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33450" y="4238625"/>
            <a:ext cx="533590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dirty="0">
                <a:solidFill>
                  <a:srgbClr val="4A4640"/>
                </a:solidFill>
                <a:latin typeface="Arial"/>
                <a:ea typeface="Microsoft YaHei"/>
                <a:cs typeface="Arial"/>
              </a:rPr>
              <a:t>para exprimir cada centésima de ROC-AUC.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952500" y="5048250"/>
            <a:ext cx="8953500" cy="857250"/>
            <a:chOff x="952500" y="5048250"/>
            <a:chExt cx="8953500" cy="857250"/>
          </a:xfrm>
        </p:grpSpPr>
        <p:sp>
          <p:nvSpPr>
            <p:cNvPr id="10" name="Freeform 10"/>
            <p:cNvSpPr/>
            <p:nvPr/>
          </p:nvSpPr>
          <p:spPr>
            <a:xfrm>
              <a:off x="952500" y="5048250"/>
              <a:ext cx="2857500" cy="857250"/>
            </a:xfrm>
            <a:custGeom>
              <a:avLst/>
              <a:gdLst/>
              <a:ahLst/>
              <a:cxnLst/>
              <a:rect l="l" t="t" r="r" b="b"/>
              <a:pathLst>
                <a:path w="2857500" h="857250">
                  <a:moveTo>
                    <a:pt x="95250" y="0"/>
                  </a:moveTo>
                  <a:lnTo>
                    <a:pt x="2762250" y="0"/>
                  </a:lnTo>
                  <a:cubicBezTo>
                    <a:pt x="2814855" y="0"/>
                    <a:pt x="2857500" y="42645"/>
                    <a:pt x="2857500" y="95250"/>
                  </a:cubicBezTo>
                  <a:lnTo>
                    <a:pt x="2857500" y="762000"/>
                  </a:lnTo>
                  <a:cubicBezTo>
                    <a:pt x="2857500" y="814605"/>
                    <a:pt x="2814855" y="857250"/>
                    <a:pt x="2762250" y="857250"/>
                  </a:cubicBezTo>
                  <a:lnTo>
                    <a:pt x="95250" y="857250"/>
                  </a:lnTo>
                  <a:cubicBezTo>
                    <a:pt x="42645" y="857250"/>
                    <a:pt x="0" y="814605"/>
                    <a:pt x="0" y="7620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5F3ED"/>
            </a:solidFill>
            <a:ln w="9525">
              <a:solidFill>
                <a:srgbClr val="DDD9D0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168718" y="5304949"/>
              <a:ext cx="65998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75" dirty="0">
                  <a:solidFill>
                    <a:srgbClr val="6B665D"/>
                  </a:solidFill>
                  <a:latin typeface="Arial"/>
                  <a:ea typeface="Microsoft YaHei"/>
                  <a:cs typeface="Arial"/>
                </a:rPr>
                <a:t>MÉTRICA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60145" y="5517832"/>
              <a:ext cx="124491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1A1814"/>
                  </a:solidFill>
                  <a:latin typeface="Arial"/>
                  <a:ea typeface="Microsoft YaHei"/>
                  <a:cs typeface="Arial"/>
                </a:rPr>
                <a:t>ROC-AUC</a:t>
              </a:r>
            </a:p>
          </p:txBody>
        </p:sp>
        <p:sp>
          <p:nvSpPr>
            <p:cNvPr id="13" name="Freeform 13"/>
            <p:cNvSpPr/>
            <p:nvPr/>
          </p:nvSpPr>
          <p:spPr>
            <a:xfrm>
              <a:off x="4000500" y="5048250"/>
              <a:ext cx="2857500" cy="857250"/>
            </a:xfrm>
            <a:custGeom>
              <a:avLst/>
              <a:gdLst/>
              <a:ahLst/>
              <a:cxnLst/>
              <a:rect l="l" t="t" r="r" b="b"/>
              <a:pathLst>
                <a:path w="2857500" h="857250">
                  <a:moveTo>
                    <a:pt x="95250" y="0"/>
                  </a:moveTo>
                  <a:lnTo>
                    <a:pt x="2762250" y="0"/>
                  </a:lnTo>
                  <a:cubicBezTo>
                    <a:pt x="2814855" y="0"/>
                    <a:pt x="2857500" y="42645"/>
                    <a:pt x="2857500" y="95250"/>
                  </a:cubicBezTo>
                  <a:lnTo>
                    <a:pt x="2857500" y="762000"/>
                  </a:lnTo>
                  <a:cubicBezTo>
                    <a:pt x="2857500" y="814605"/>
                    <a:pt x="2814855" y="857250"/>
                    <a:pt x="2762250" y="857250"/>
                  </a:cubicBezTo>
                  <a:lnTo>
                    <a:pt x="95250" y="857250"/>
                  </a:lnTo>
                  <a:cubicBezTo>
                    <a:pt x="42645" y="857250"/>
                    <a:pt x="0" y="814605"/>
                    <a:pt x="0" y="7620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5F3ED"/>
            </a:solidFill>
            <a:ln w="9525">
              <a:solidFill>
                <a:srgbClr val="DDD9D0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216718" y="5304949"/>
              <a:ext cx="7184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75" dirty="0">
                  <a:solidFill>
                    <a:srgbClr val="6B665D"/>
                  </a:solidFill>
                  <a:latin typeface="Arial"/>
                  <a:ea typeface="Microsoft YaHei"/>
                  <a:cs typeface="Arial"/>
                </a:rPr>
                <a:t>BASELINE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208145" y="5517832"/>
              <a:ext cx="307168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1A1814"/>
                  </a:solidFill>
                  <a:latin typeface="Arial"/>
                  <a:ea typeface="Microsoft YaHei"/>
                  <a:cs typeface="Arial"/>
                </a:rPr>
                <a:t>LightGBM · CV 0.7581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7048500" y="5048250"/>
              <a:ext cx="2857500" cy="857250"/>
            </a:xfrm>
            <a:custGeom>
              <a:avLst/>
              <a:gdLst/>
              <a:ahLst/>
              <a:cxnLst/>
              <a:rect l="l" t="t" r="r" b="b"/>
              <a:pathLst>
                <a:path w="2857500" h="857250">
                  <a:moveTo>
                    <a:pt x="95250" y="0"/>
                  </a:moveTo>
                  <a:lnTo>
                    <a:pt x="2762250" y="0"/>
                  </a:lnTo>
                  <a:cubicBezTo>
                    <a:pt x="2814855" y="0"/>
                    <a:pt x="2857500" y="42645"/>
                    <a:pt x="2857500" y="95250"/>
                  </a:cubicBezTo>
                  <a:lnTo>
                    <a:pt x="2857500" y="762000"/>
                  </a:lnTo>
                  <a:cubicBezTo>
                    <a:pt x="2857500" y="814605"/>
                    <a:pt x="2814855" y="857250"/>
                    <a:pt x="2762250" y="857250"/>
                  </a:cubicBezTo>
                  <a:lnTo>
                    <a:pt x="95250" y="857250"/>
                  </a:lnTo>
                  <a:cubicBezTo>
                    <a:pt x="42645" y="857250"/>
                    <a:pt x="0" y="814605"/>
                    <a:pt x="0" y="7620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5F3ED"/>
            </a:solidFill>
            <a:ln w="9525">
              <a:solidFill>
                <a:srgbClr val="DDD9D0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264718" y="5304949"/>
              <a:ext cx="7184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75" dirty="0">
                  <a:solidFill>
                    <a:srgbClr val="6B665D"/>
                  </a:solidFill>
                  <a:latin typeface="Arial"/>
                  <a:ea typeface="Microsoft YaHei"/>
                  <a:cs typeface="Arial"/>
                </a:rPr>
                <a:t>DEADLINE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256145" y="5517832"/>
              <a:ext cx="169046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1A1814"/>
                  </a:solidFill>
                  <a:latin typeface="Arial"/>
                  <a:ea typeface="Microsoft YaHei"/>
                  <a:cs typeface="Arial"/>
                </a:rPr>
                <a:t>18 nov 2026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939165" y="6363652"/>
            <a:ext cx="549035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6B665D"/>
                </a:solidFill>
                <a:latin typeface="Arial"/>
                <a:ea typeface="Microsoft YaHei"/>
                <a:cs typeface="Arial"/>
              </a:rPr>
              <a:t>Mario Marroquín · Proyecto GCI Credit Default · Octubre 2026</a:t>
            </a:r>
          </a:p>
        </p:txBody>
      </p:sp>
    </p:spTree>
  </p:cSld>
  <p:clrMapOvr>
    <a:masterClrMapping/>
  </p:clrMapOvr>
  <p:transition 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CF9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48665" y="553402"/>
            <a:ext cx="185132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spc="300" dirty="0">
                <a:solidFill>
                  <a:srgbClr val="6B665D"/>
                </a:solidFill>
                <a:latin typeface="Arial"/>
                <a:ea typeface="Microsoft YaHei"/>
                <a:cs typeface="Arial"/>
              </a:rPr>
              <a:t>01 · LOS DATOS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23900" y="819150"/>
            <a:ext cx="851154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000" dirty="0">
                <a:solidFill>
                  <a:srgbClr val="1A1814"/>
                </a:solidFill>
                <a:latin typeface="Georgia"/>
                <a:ea typeface="SimSun"/>
                <a:cs typeface="Georgia"/>
              </a:rPr>
              <a:t>Una sola tabla, señal concentrada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762000" y="1571625"/>
            <a:ext cx="10668000" cy="1238250"/>
            <a:chOff x="762000" y="1571625"/>
            <a:chExt cx="10668000" cy="1238250"/>
          </a:xfrm>
        </p:grpSpPr>
        <p:sp>
          <p:nvSpPr>
            <p:cNvPr id="5" name="Freeform 5"/>
            <p:cNvSpPr/>
            <p:nvPr/>
          </p:nvSpPr>
          <p:spPr>
            <a:xfrm>
              <a:off x="762000" y="1571625"/>
              <a:ext cx="2571750" cy="1238250"/>
            </a:xfrm>
            <a:custGeom>
              <a:avLst/>
              <a:gdLst/>
              <a:ahLst/>
              <a:cxnLst/>
              <a:rect l="l" t="t" r="r" b="b"/>
              <a:pathLst>
                <a:path w="2571750" h="1238250">
                  <a:moveTo>
                    <a:pt x="95250" y="0"/>
                  </a:moveTo>
                  <a:lnTo>
                    <a:pt x="2476500" y="0"/>
                  </a:lnTo>
                  <a:cubicBezTo>
                    <a:pt x="2529105" y="0"/>
                    <a:pt x="2571750" y="42645"/>
                    <a:pt x="2571750" y="95250"/>
                  </a:cubicBezTo>
                  <a:lnTo>
                    <a:pt x="2571750" y="1143000"/>
                  </a:lnTo>
                  <a:cubicBezTo>
                    <a:pt x="2571750" y="1195605"/>
                    <a:pt x="2529105" y="1238250"/>
                    <a:pt x="2476500" y="1238250"/>
                  </a:cubicBezTo>
                  <a:lnTo>
                    <a:pt x="95250" y="1238250"/>
                  </a:lnTo>
                  <a:cubicBezTo>
                    <a:pt x="42645" y="1238250"/>
                    <a:pt x="0" y="1195605"/>
                    <a:pt x="0" y="11430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5F3ED"/>
            </a:solidFill>
            <a:ln w="9525">
              <a:solidFill>
                <a:srgbClr val="DDD9D0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963930" y="1740218"/>
              <a:ext cx="2047687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850" b="1" dirty="0">
                  <a:solidFill>
                    <a:srgbClr val="1A1814"/>
                  </a:solidFill>
                  <a:latin typeface="Arial"/>
                  <a:ea typeface="Microsoft YaHei"/>
                  <a:cs typeface="Arial"/>
                </a:rPr>
                <a:t>171,202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85838" y="2240756"/>
              <a:ext cx="215991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6B665D"/>
                  </a:solidFill>
                  <a:latin typeface="Arial"/>
                  <a:ea typeface="Microsoft YaHei"/>
                  <a:cs typeface="Arial"/>
                </a:rPr>
                <a:t>filas de entrenamiento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3524250" y="1571625"/>
              <a:ext cx="2571750" cy="1238250"/>
            </a:xfrm>
            <a:custGeom>
              <a:avLst/>
              <a:gdLst/>
              <a:ahLst/>
              <a:cxnLst/>
              <a:rect l="l" t="t" r="r" b="b"/>
              <a:pathLst>
                <a:path w="2571750" h="1238250">
                  <a:moveTo>
                    <a:pt x="95250" y="0"/>
                  </a:moveTo>
                  <a:lnTo>
                    <a:pt x="2476500" y="0"/>
                  </a:lnTo>
                  <a:cubicBezTo>
                    <a:pt x="2529105" y="0"/>
                    <a:pt x="2571750" y="42645"/>
                    <a:pt x="2571750" y="95250"/>
                  </a:cubicBezTo>
                  <a:lnTo>
                    <a:pt x="2571750" y="1143000"/>
                  </a:lnTo>
                  <a:cubicBezTo>
                    <a:pt x="2571750" y="1195605"/>
                    <a:pt x="2529105" y="1238250"/>
                    <a:pt x="2476500" y="1238250"/>
                  </a:cubicBezTo>
                  <a:lnTo>
                    <a:pt x="95250" y="1238250"/>
                  </a:lnTo>
                  <a:cubicBezTo>
                    <a:pt x="42645" y="1238250"/>
                    <a:pt x="0" y="1195605"/>
                    <a:pt x="0" y="11430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5F3ED"/>
            </a:solidFill>
            <a:ln w="9525">
              <a:solidFill>
                <a:srgbClr val="DDD9D0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726180" y="1740218"/>
              <a:ext cx="1765502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850" b="1" dirty="0">
                  <a:solidFill>
                    <a:srgbClr val="1A1814"/>
                  </a:solidFill>
                  <a:latin typeface="Arial"/>
                  <a:ea typeface="Microsoft YaHei"/>
                  <a:cs typeface="Arial"/>
                </a:rPr>
                <a:t>61,500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748088" y="2240756"/>
              <a:ext cx="142696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6B665D"/>
                  </a:solidFill>
                  <a:latin typeface="Arial"/>
                  <a:ea typeface="Microsoft YaHei"/>
                  <a:cs typeface="Arial"/>
                </a:rPr>
                <a:t>filas de prueba</a:t>
              </a:r>
            </a:p>
          </p:txBody>
        </p:sp>
        <p:sp>
          <p:nvSpPr>
            <p:cNvPr id="11" name="Freeform 11"/>
            <p:cNvSpPr/>
            <p:nvPr/>
          </p:nvSpPr>
          <p:spPr>
            <a:xfrm>
              <a:off x="6286500" y="1571625"/>
              <a:ext cx="2571750" cy="1238250"/>
            </a:xfrm>
            <a:custGeom>
              <a:avLst/>
              <a:gdLst/>
              <a:ahLst/>
              <a:cxnLst/>
              <a:rect l="l" t="t" r="r" b="b"/>
              <a:pathLst>
                <a:path w="2571750" h="1238250">
                  <a:moveTo>
                    <a:pt x="95250" y="0"/>
                  </a:moveTo>
                  <a:lnTo>
                    <a:pt x="2476500" y="0"/>
                  </a:lnTo>
                  <a:cubicBezTo>
                    <a:pt x="2529105" y="0"/>
                    <a:pt x="2571750" y="42645"/>
                    <a:pt x="2571750" y="95250"/>
                  </a:cubicBezTo>
                  <a:lnTo>
                    <a:pt x="2571750" y="1143000"/>
                  </a:lnTo>
                  <a:cubicBezTo>
                    <a:pt x="2571750" y="1195605"/>
                    <a:pt x="2529105" y="1238250"/>
                    <a:pt x="2476500" y="1238250"/>
                  </a:cubicBezTo>
                  <a:lnTo>
                    <a:pt x="95250" y="1238250"/>
                  </a:lnTo>
                  <a:cubicBezTo>
                    <a:pt x="42645" y="1238250"/>
                    <a:pt x="0" y="1195605"/>
                    <a:pt x="0" y="11430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5F3ED"/>
            </a:solidFill>
            <a:ln w="9525">
              <a:solidFill>
                <a:srgbClr val="DDD9D0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488430" y="1740218"/>
              <a:ext cx="636761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850" b="1" dirty="0">
                  <a:solidFill>
                    <a:srgbClr val="1A1814"/>
                  </a:solidFill>
                  <a:latin typeface="Arial"/>
                  <a:ea typeface="Microsoft YaHei"/>
                  <a:cs typeface="Arial"/>
                </a:rPr>
                <a:t>32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510338" y="2240756"/>
              <a:ext cx="304716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6B665D"/>
                  </a:solidFill>
                  <a:latin typeface="Arial"/>
                  <a:ea typeface="Microsoft YaHei"/>
                  <a:cs typeface="Arial"/>
                </a:rPr>
                <a:t>variables (sin tablas auxiliares)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9048750" y="1571625"/>
              <a:ext cx="2381250" cy="1238250"/>
            </a:xfrm>
            <a:custGeom>
              <a:avLst/>
              <a:gdLst/>
              <a:ahLst/>
              <a:cxnLst/>
              <a:rect l="l" t="t" r="r" b="b"/>
              <a:pathLst>
                <a:path w="2381250" h="1238250">
                  <a:moveTo>
                    <a:pt x="95250" y="0"/>
                  </a:moveTo>
                  <a:lnTo>
                    <a:pt x="2286000" y="0"/>
                  </a:lnTo>
                  <a:cubicBezTo>
                    <a:pt x="2338605" y="0"/>
                    <a:pt x="2381250" y="42645"/>
                    <a:pt x="2381250" y="95250"/>
                  </a:cubicBezTo>
                  <a:lnTo>
                    <a:pt x="2381250" y="1143000"/>
                  </a:lnTo>
                  <a:cubicBezTo>
                    <a:pt x="2381250" y="1195605"/>
                    <a:pt x="2338605" y="1238250"/>
                    <a:pt x="2286000" y="1238250"/>
                  </a:cubicBezTo>
                  <a:lnTo>
                    <a:pt x="95250" y="1238250"/>
                  </a:lnTo>
                  <a:cubicBezTo>
                    <a:pt x="42645" y="1238250"/>
                    <a:pt x="0" y="1195605"/>
                    <a:pt x="0" y="11430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5F3ED"/>
            </a:solidFill>
            <a:ln w="9525">
              <a:solidFill>
                <a:srgbClr val="DDD9D0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250680" y="1740218"/>
              <a:ext cx="1201131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850" b="1" dirty="0">
                  <a:solidFill>
                    <a:srgbClr val="DC2626"/>
                  </a:solidFill>
                  <a:latin typeface="Arial"/>
                  <a:ea typeface="Microsoft YaHei"/>
                  <a:cs typeface="Arial"/>
                </a:rPr>
                <a:t>8.1%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272588" y="2240756"/>
              <a:ext cx="185130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6B665D"/>
                  </a:solidFill>
                  <a:latin typeface="Arial"/>
                  <a:ea typeface="Microsoft YaHei"/>
                  <a:cs typeface="Arial"/>
                </a:rPr>
                <a:t>positivos (default)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739140" y="3139440"/>
            <a:ext cx="442798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dirty="0">
                <a:solidFill>
                  <a:srgbClr val="1A1814"/>
                </a:solidFill>
                <a:latin typeface="Georgia"/>
                <a:ea typeface="SimSun"/>
                <a:cs typeface="Georgia"/>
              </a:rPr>
              <a:t>Balance del objetivo (TARGET)</a:t>
            </a:r>
          </a:p>
        </p:txBody>
      </p:sp>
      <p:sp>
        <p:nvSpPr>
          <p:cNvPr id="19" name="Freeform 19"/>
          <p:cNvSpPr/>
          <p:nvPr/>
        </p:nvSpPr>
        <p:spPr>
          <a:xfrm>
            <a:off x="762000" y="3619500"/>
            <a:ext cx="9810750" cy="609600"/>
          </a:xfrm>
          <a:custGeom>
            <a:avLst/>
            <a:gdLst/>
            <a:ahLst/>
            <a:cxnLst/>
            <a:rect l="l" t="t" r="r" b="b"/>
            <a:pathLst>
              <a:path w="9810750" h="609600">
                <a:moveTo>
                  <a:pt x="76200" y="0"/>
                </a:moveTo>
                <a:lnTo>
                  <a:pt x="9734550" y="0"/>
                </a:lnTo>
                <a:cubicBezTo>
                  <a:pt x="9776634" y="0"/>
                  <a:pt x="9810750" y="34116"/>
                  <a:pt x="9810750" y="76200"/>
                </a:cubicBezTo>
                <a:lnTo>
                  <a:pt x="9810750" y="533400"/>
                </a:lnTo>
                <a:cubicBezTo>
                  <a:pt x="9810750" y="575484"/>
                  <a:pt x="9776634" y="609600"/>
                  <a:pt x="9734550" y="609600"/>
                </a:cubicBezTo>
                <a:lnTo>
                  <a:pt x="76200" y="609600"/>
                </a:lnTo>
                <a:cubicBezTo>
                  <a:pt x="34116" y="609600"/>
                  <a:pt x="0" y="575484"/>
                  <a:pt x="0" y="5334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3ED"/>
          </a:solidFill>
          <a:ln w="9525">
            <a:solidFill>
              <a:srgbClr val="DDD9D0"/>
            </a:solidFill>
          </a:ln>
        </p:spPr>
      </p:sp>
      <p:sp>
        <p:nvSpPr>
          <p:cNvPr id="20" name="Freeform 20"/>
          <p:cNvSpPr/>
          <p:nvPr/>
        </p:nvSpPr>
        <p:spPr>
          <a:xfrm>
            <a:off x="762000" y="3619500"/>
            <a:ext cx="9020175" cy="609600"/>
          </a:xfrm>
          <a:custGeom>
            <a:avLst/>
            <a:gdLst/>
            <a:ahLst/>
            <a:cxnLst/>
            <a:rect l="l" t="t" r="r" b="b"/>
            <a:pathLst>
              <a:path w="9020175" h="609600">
                <a:moveTo>
                  <a:pt x="76200" y="0"/>
                </a:moveTo>
                <a:lnTo>
                  <a:pt x="8943975" y="0"/>
                </a:lnTo>
                <a:cubicBezTo>
                  <a:pt x="8986059" y="0"/>
                  <a:pt x="9020175" y="34116"/>
                  <a:pt x="9020175" y="76200"/>
                </a:cubicBezTo>
                <a:lnTo>
                  <a:pt x="9020175" y="533400"/>
                </a:lnTo>
                <a:cubicBezTo>
                  <a:pt x="9020175" y="575484"/>
                  <a:pt x="8986059" y="609600"/>
                  <a:pt x="8943975" y="609600"/>
                </a:cubicBezTo>
                <a:lnTo>
                  <a:pt x="76200" y="609600"/>
                </a:lnTo>
                <a:cubicBezTo>
                  <a:pt x="34116" y="609600"/>
                  <a:pt x="0" y="575484"/>
                  <a:pt x="0" y="5334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2C2A25"/>
          </a:solidFill>
          <a:ln>
            <a:noFill/>
          </a:ln>
        </p:spPr>
      </p:sp>
      <p:sp>
        <p:nvSpPr>
          <p:cNvPr id="21" name="Freeform 21"/>
          <p:cNvSpPr/>
          <p:nvPr/>
        </p:nvSpPr>
        <p:spPr>
          <a:xfrm>
            <a:off x="9782175" y="3619500"/>
            <a:ext cx="790575" cy="609600"/>
          </a:xfrm>
          <a:custGeom>
            <a:avLst/>
            <a:gdLst/>
            <a:ahLst/>
            <a:cxnLst/>
            <a:rect l="l" t="t" r="r" b="b"/>
            <a:pathLst>
              <a:path w="790575" h="609600">
                <a:moveTo>
                  <a:pt x="76200" y="0"/>
                </a:moveTo>
                <a:lnTo>
                  <a:pt x="714375" y="0"/>
                </a:lnTo>
                <a:cubicBezTo>
                  <a:pt x="756459" y="0"/>
                  <a:pt x="790575" y="34116"/>
                  <a:pt x="790575" y="76200"/>
                </a:cubicBezTo>
                <a:lnTo>
                  <a:pt x="790575" y="533400"/>
                </a:lnTo>
                <a:cubicBezTo>
                  <a:pt x="790575" y="575484"/>
                  <a:pt x="756459" y="609600"/>
                  <a:pt x="714375" y="609600"/>
                </a:cubicBezTo>
                <a:lnTo>
                  <a:pt x="76200" y="609600"/>
                </a:lnTo>
                <a:cubicBezTo>
                  <a:pt x="34116" y="609600"/>
                  <a:pt x="0" y="575484"/>
                  <a:pt x="0" y="5334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DC2626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1030605" y="3845242"/>
            <a:ext cx="370289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F5F3ED"/>
                </a:solidFill>
                <a:latin typeface="Arial"/>
                <a:ea typeface="Microsoft YaHei"/>
                <a:cs typeface="Arial"/>
              </a:rPr>
              <a:t>No default (0) — 157,381 · 91.9%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462849" y="3869531"/>
            <a:ext cx="120515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125" dirty="0">
                <a:solidFill>
                  <a:srgbClr val="6B665D"/>
                </a:solidFill>
                <a:latin typeface="Arial"/>
                <a:ea typeface="Microsoft YaHei"/>
                <a:cs typeface="Arial"/>
              </a:rPr>
              <a:t>8.1% default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745808" y="4720114"/>
            <a:ext cx="6491978" cy="1783080"/>
            <a:chOff x="745808" y="4720114"/>
            <a:chExt cx="6491978" cy="1783080"/>
          </a:xfrm>
        </p:grpSpPr>
        <p:sp>
          <p:nvSpPr>
            <p:cNvPr id="24" name="TextBox 24"/>
            <p:cNvSpPr txBox="1"/>
            <p:nvPr/>
          </p:nvSpPr>
          <p:spPr>
            <a:xfrm>
              <a:off x="745808" y="4720114"/>
              <a:ext cx="609850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75" dirty="0">
                  <a:solidFill>
                    <a:srgbClr val="4A4640"/>
                  </a:solidFill>
                  <a:latin typeface="Arial"/>
                  <a:ea typeface="Microsoft YaHei"/>
                  <a:cs typeface="Arial"/>
                </a:rPr>
                <a:t>▸ Desbalance ~1:11 → métrica AUC (insensible al umbral) y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45808" y="4986814"/>
              <a:ext cx="393437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75" dirty="0">
                  <a:solidFill>
                    <a:srgbClr val="4A4640"/>
                  </a:solidFill>
                  <a:latin typeface="Arial"/>
                  <a:ea typeface="Microsoft YaHei"/>
                  <a:cs typeface="Arial"/>
                </a:rPr>
                <a:t>validación estratificada obligatoria.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45808" y="5482114"/>
              <a:ext cx="630616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75" dirty="0">
                  <a:solidFill>
                    <a:srgbClr val="4A4640"/>
                  </a:solidFill>
                  <a:latin typeface="Arial"/>
                  <a:ea typeface="Microsoft YaHei"/>
                  <a:cs typeface="Arial"/>
                </a:rPr>
                <a:t>▸ Solo tabla application-level: la señal vive en EXT_SOURCE,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45808" y="5748814"/>
              <a:ext cx="636081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75" dirty="0">
                  <a:solidFill>
                    <a:srgbClr val="4A4640"/>
                  </a:solidFill>
                  <a:latin typeface="Arial"/>
                  <a:ea typeface="Microsoft YaHei"/>
                  <a:cs typeface="Arial"/>
                </a:rPr>
                <a:t>los montos del crédito y la estabilidad temporal del cliente.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45808" y="6244114"/>
              <a:ext cx="649197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75" dirty="0">
                  <a:solidFill>
                    <a:srgbClr val="4A4640"/>
                  </a:solidFill>
                  <a:latin typeface="Arial"/>
                  <a:ea typeface="Microsoft YaHei"/>
                  <a:cs typeface="Arial"/>
                </a:rPr>
                <a:t>▸ Reglas: sin datos externos, sin hand-labeling, seeds fijas.</a:t>
              </a:r>
            </a:p>
          </p:txBody>
        </p:sp>
      </p:grpSp>
    </p:spTree>
  </p:cSld>
  <p:clrMapOvr>
    <a:masterClrMapping/>
  </p:clrMapOvr>
  <p:transition 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CF9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48665" y="553402"/>
            <a:ext cx="291603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spc="300" dirty="0">
                <a:solidFill>
                  <a:srgbClr val="6B665D"/>
                </a:solidFill>
                <a:latin typeface="Arial"/>
                <a:ea typeface="Microsoft YaHei"/>
                <a:cs typeface="Arial"/>
              </a:rPr>
              <a:t>02 · VALORES FALTANTES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23900" y="819150"/>
            <a:ext cx="11211878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000" dirty="0">
                <a:solidFill>
                  <a:srgbClr val="1A1814"/>
                </a:solidFill>
                <a:latin typeface="Georgia"/>
                <a:ea typeface="SimSun"/>
                <a:cs typeface="Georgia"/>
              </a:rPr>
              <a:t>El patrón de nulos es información, no basura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745808" y="1524000"/>
            <a:ext cx="10569589" cy="2436019"/>
            <a:chOff x="745808" y="1524000"/>
            <a:chExt cx="10569589" cy="2436019"/>
          </a:xfrm>
        </p:grpSpPr>
        <p:sp>
          <p:nvSpPr>
            <p:cNvPr id="5" name="TextBox 5"/>
            <p:cNvSpPr txBox="1"/>
            <p:nvPr/>
          </p:nvSpPr>
          <p:spPr>
            <a:xfrm>
              <a:off x="745808" y="1576864"/>
              <a:ext cx="151885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75" dirty="0">
                  <a:solidFill>
                    <a:srgbClr val="4A4640"/>
                  </a:solidFill>
                  <a:latin typeface="Arial"/>
                  <a:ea typeface="Microsoft YaHei"/>
                  <a:cs typeface="Arial"/>
                </a:rPr>
                <a:t>EXT_SOURCE_1</a:t>
              </a:r>
            </a:p>
          </p:txBody>
        </p:sp>
        <p:sp>
          <p:nvSpPr>
            <p:cNvPr id="6" name="Freeform 6"/>
            <p:cNvSpPr/>
            <p:nvPr/>
          </p:nvSpPr>
          <p:spPr>
            <a:xfrm>
              <a:off x="3238500" y="1524000"/>
              <a:ext cx="7277100" cy="323850"/>
            </a:xfrm>
            <a:custGeom>
              <a:avLst/>
              <a:gdLst/>
              <a:ahLst/>
              <a:cxnLst/>
              <a:rect l="l" t="t" r="r" b="b"/>
              <a:pathLst>
                <a:path w="7277100" h="323850">
                  <a:moveTo>
                    <a:pt x="47625" y="0"/>
                  </a:moveTo>
                  <a:lnTo>
                    <a:pt x="7229475" y="0"/>
                  </a:lnTo>
                  <a:cubicBezTo>
                    <a:pt x="7255778" y="0"/>
                    <a:pt x="7277100" y="21322"/>
                    <a:pt x="7277100" y="47625"/>
                  </a:cubicBezTo>
                  <a:lnTo>
                    <a:pt x="7277100" y="276225"/>
                  </a:lnTo>
                  <a:cubicBezTo>
                    <a:pt x="7277100" y="302528"/>
                    <a:pt x="7255778" y="323850"/>
                    <a:pt x="7229475" y="323850"/>
                  </a:cubicBezTo>
                  <a:lnTo>
                    <a:pt x="47625" y="323850"/>
                  </a:lnTo>
                  <a:cubicBezTo>
                    <a:pt x="21322" y="323850"/>
                    <a:pt x="0" y="302528"/>
                    <a:pt x="0" y="276225"/>
                  </a:cubicBezTo>
                  <a:lnTo>
                    <a:pt x="0" y="47625"/>
                  </a:lnTo>
                  <a:cubicBezTo>
                    <a:pt x="0" y="21322"/>
                    <a:pt x="21322" y="0"/>
                    <a:pt x="47625" y="0"/>
                  </a:cubicBezTo>
                  <a:close/>
                </a:path>
              </a:pathLst>
            </a:custGeom>
            <a:solidFill>
              <a:srgbClr val="F5F3ED"/>
            </a:solidFill>
            <a:ln w="9525">
              <a:solidFill>
                <a:srgbClr val="DDD9D0"/>
              </a:solidFill>
            </a:ln>
          </p:spPr>
        </p:sp>
        <p:sp>
          <p:nvSpPr>
            <p:cNvPr id="7" name="Freeform 7"/>
            <p:cNvSpPr/>
            <p:nvPr/>
          </p:nvSpPr>
          <p:spPr>
            <a:xfrm>
              <a:off x="3238500" y="1524000"/>
              <a:ext cx="5057775" cy="323850"/>
            </a:xfrm>
            <a:custGeom>
              <a:avLst/>
              <a:gdLst/>
              <a:ahLst/>
              <a:cxnLst/>
              <a:rect l="l" t="t" r="r" b="b"/>
              <a:pathLst>
                <a:path w="5057775" h="323850">
                  <a:moveTo>
                    <a:pt x="47625" y="0"/>
                  </a:moveTo>
                  <a:lnTo>
                    <a:pt x="5010150" y="0"/>
                  </a:lnTo>
                  <a:cubicBezTo>
                    <a:pt x="5036453" y="0"/>
                    <a:pt x="5057775" y="21322"/>
                    <a:pt x="5057775" y="47625"/>
                  </a:cubicBezTo>
                  <a:lnTo>
                    <a:pt x="5057775" y="276225"/>
                  </a:lnTo>
                  <a:cubicBezTo>
                    <a:pt x="5057775" y="302528"/>
                    <a:pt x="5036453" y="323850"/>
                    <a:pt x="5010150" y="323850"/>
                  </a:cubicBezTo>
                  <a:lnTo>
                    <a:pt x="47625" y="323850"/>
                  </a:lnTo>
                  <a:cubicBezTo>
                    <a:pt x="21322" y="323850"/>
                    <a:pt x="0" y="302528"/>
                    <a:pt x="0" y="276225"/>
                  </a:cubicBezTo>
                  <a:lnTo>
                    <a:pt x="0" y="47625"/>
                  </a:lnTo>
                  <a:cubicBezTo>
                    <a:pt x="0" y="21322"/>
                    <a:pt x="21322" y="0"/>
                    <a:pt x="47625" y="0"/>
                  </a:cubicBezTo>
                  <a:close/>
                </a:path>
              </a:pathLst>
            </a:custGeom>
            <a:solidFill>
              <a:srgbClr val="D9770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651808" y="1605439"/>
              <a:ext cx="66358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75" b="1" dirty="0">
                  <a:solidFill>
                    <a:srgbClr val="1A1814"/>
                  </a:solidFill>
                  <a:latin typeface="Arial"/>
                  <a:ea typeface="Microsoft YaHei"/>
                  <a:cs typeface="Arial"/>
                </a:rPr>
                <a:t>69.5%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45808" y="2100739"/>
              <a:ext cx="144234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75" dirty="0">
                  <a:solidFill>
                    <a:srgbClr val="4A4640"/>
                  </a:solidFill>
                  <a:latin typeface="Arial"/>
                  <a:ea typeface="Microsoft YaHei"/>
                  <a:cs typeface="Arial"/>
                </a:rPr>
                <a:t>OWN_CAR_AGE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3238500" y="2047875"/>
              <a:ext cx="7277100" cy="323850"/>
            </a:xfrm>
            <a:custGeom>
              <a:avLst/>
              <a:gdLst/>
              <a:ahLst/>
              <a:cxnLst/>
              <a:rect l="l" t="t" r="r" b="b"/>
              <a:pathLst>
                <a:path w="7277100" h="323850">
                  <a:moveTo>
                    <a:pt x="47625" y="0"/>
                  </a:moveTo>
                  <a:lnTo>
                    <a:pt x="7229475" y="0"/>
                  </a:lnTo>
                  <a:cubicBezTo>
                    <a:pt x="7255778" y="0"/>
                    <a:pt x="7277100" y="21322"/>
                    <a:pt x="7277100" y="47625"/>
                  </a:cubicBezTo>
                  <a:lnTo>
                    <a:pt x="7277100" y="276225"/>
                  </a:lnTo>
                  <a:cubicBezTo>
                    <a:pt x="7277100" y="302528"/>
                    <a:pt x="7255778" y="323850"/>
                    <a:pt x="7229475" y="323850"/>
                  </a:cubicBezTo>
                  <a:lnTo>
                    <a:pt x="47625" y="323850"/>
                  </a:lnTo>
                  <a:cubicBezTo>
                    <a:pt x="21322" y="323850"/>
                    <a:pt x="0" y="302528"/>
                    <a:pt x="0" y="276225"/>
                  </a:cubicBezTo>
                  <a:lnTo>
                    <a:pt x="0" y="47625"/>
                  </a:lnTo>
                  <a:cubicBezTo>
                    <a:pt x="0" y="21322"/>
                    <a:pt x="21322" y="0"/>
                    <a:pt x="47625" y="0"/>
                  </a:cubicBezTo>
                  <a:close/>
                </a:path>
              </a:pathLst>
            </a:custGeom>
            <a:solidFill>
              <a:srgbClr val="F5F3ED"/>
            </a:solidFill>
            <a:ln w="9525">
              <a:solidFill>
                <a:srgbClr val="DDD9D0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3238500" y="2047875"/>
              <a:ext cx="4800600" cy="323850"/>
            </a:xfrm>
            <a:custGeom>
              <a:avLst/>
              <a:gdLst/>
              <a:ahLst/>
              <a:cxnLst/>
              <a:rect l="l" t="t" r="r" b="b"/>
              <a:pathLst>
                <a:path w="4800600" h="323850">
                  <a:moveTo>
                    <a:pt x="47625" y="0"/>
                  </a:moveTo>
                  <a:lnTo>
                    <a:pt x="4752975" y="0"/>
                  </a:lnTo>
                  <a:cubicBezTo>
                    <a:pt x="4779278" y="0"/>
                    <a:pt x="4800600" y="21322"/>
                    <a:pt x="4800600" y="47625"/>
                  </a:cubicBezTo>
                  <a:lnTo>
                    <a:pt x="4800600" y="276225"/>
                  </a:lnTo>
                  <a:cubicBezTo>
                    <a:pt x="4800600" y="302528"/>
                    <a:pt x="4779278" y="323850"/>
                    <a:pt x="4752975" y="323850"/>
                  </a:cubicBezTo>
                  <a:lnTo>
                    <a:pt x="47625" y="323850"/>
                  </a:lnTo>
                  <a:cubicBezTo>
                    <a:pt x="21322" y="323850"/>
                    <a:pt x="0" y="302528"/>
                    <a:pt x="0" y="276225"/>
                  </a:cubicBezTo>
                  <a:lnTo>
                    <a:pt x="0" y="47625"/>
                  </a:lnTo>
                  <a:cubicBezTo>
                    <a:pt x="0" y="21322"/>
                    <a:pt x="21322" y="0"/>
                    <a:pt x="47625" y="0"/>
                  </a:cubicBezTo>
                  <a:close/>
                </a:path>
              </a:pathLst>
            </a:custGeom>
            <a:solidFill>
              <a:srgbClr val="D97706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651808" y="2129314"/>
              <a:ext cx="66358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75" b="1" dirty="0">
                  <a:solidFill>
                    <a:srgbClr val="1A1814"/>
                  </a:solidFill>
                  <a:latin typeface="Arial"/>
                  <a:ea typeface="Microsoft YaHei"/>
                  <a:cs typeface="Arial"/>
                </a:rPr>
                <a:t>66.0%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45808" y="2624614"/>
              <a:ext cx="151885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75" dirty="0">
                  <a:solidFill>
                    <a:srgbClr val="4A4640"/>
                  </a:solidFill>
                  <a:latin typeface="Arial"/>
                  <a:ea typeface="Microsoft YaHei"/>
                  <a:cs typeface="Arial"/>
                </a:rPr>
                <a:t>EXT_SOURCE_3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3238500" y="2571750"/>
              <a:ext cx="7277100" cy="323850"/>
            </a:xfrm>
            <a:custGeom>
              <a:avLst/>
              <a:gdLst/>
              <a:ahLst/>
              <a:cxnLst/>
              <a:rect l="l" t="t" r="r" b="b"/>
              <a:pathLst>
                <a:path w="7277100" h="323850">
                  <a:moveTo>
                    <a:pt x="47625" y="0"/>
                  </a:moveTo>
                  <a:lnTo>
                    <a:pt x="7229475" y="0"/>
                  </a:lnTo>
                  <a:cubicBezTo>
                    <a:pt x="7255778" y="0"/>
                    <a:pt x="7277100" y="21322"/>
                    <a:pt x="7277100" y="47625"/>
                  </a:cubicBezTo>
                  <a:lnTo>
                    <a:pt x="7277100" y="276225"/>
                  </a:lnTo>
                  <a:cubicBezTo>
                    <a:pt x="7277100" y="302528"/>
                    <a:pt x="7255778" y="323850"/>
                    <a:pt x="7229475" y="323850"/>
                  </a:cubicBezTo>
                  <a:lnTo>
                    <a:pt x="47625" y="323850"/>
                  </a:lnTo>
                  <a:cubicBezTo>
                    <a:pt x="21322" y="323850"/>
                    <a:pt x="0" y="302528"/>
                    <a:pt x="0" y="276225"/>
                  </a:cubicBezTo>
                  <a:lnTo>
                    <a:pt x="0" y="47625"/>
                  </a:lnTo>
                  <a:cubicBezTo>
                    <a:pt x="0" y="21322"/>
                    <a:pt x="21322" y="0"/>
                    <a:pt x="47625" y="0"/>
                  </a:cubicBezTo>
                  <a:close/>
                </a:path>
              </a:pathLst>
            </a:custGeom>
            <a:solidFill>
              <a:srgbClr val="F5F3ED"/>
            </a:solidFill>
            <a:ln w="9525">
              <a:solidFill>
                <a:srgbClr val="DDD9D0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3238500" y="2571750"/>
              <a:ext cx="2324100" cy="323850"/>
            </a:xfrm>
            <a:custGeom>
              <a:avLst/>
              <a:gdLst/>
              <a:ahLst/>
              <a:cxnLst/>
              <a:rect l="l" t="t" r="r" b="b"/>
              <a:pathLst>
                <a:path w="2324100" h="323850">
                  <a:moveTo>
                    <a:pt x="47625" y="0"/>
                  </a:moveTo>
                  <a:lnTo>
                    <a:pt x="2276475" y="0"/>
                  </a:lnTo>
                  <a:cubicBezTo>
                    <a:pt x="2302778" y="0"/>
                    <a:pt x="2324100" y="21322"/>
                    <a:pt x="2324100" y="47625"/>
                  </a:cubicBezTo>
                  <a:lnTo>
                    <a:pt x="2324100" y="276225"/>
                  </a:lnTo>
                  <a:cubicBezTo>
                    <a:pt x="2324100" y="302528"/>
                    <a:pt x="2302778" y="323850"/>
                    <a:pt x="2276475" y="323850"/>
                  </a:cubicBezTo>
                  <a:lnTo>
                    <a:pt x="47625" y="323850"/>
                  </a:lnTo>
                  <a:cubicBezTo>
                    <a:pt x="21322" y="323850"/>
                    <a:pt x="0" y="302528"/>
                    <a:pt x="0" y="276225"/>
                  </a:cubicBezTo>
                  <a:lnTo>
                    <a:pt x="0" y="47625"/>
                  </a:lnTo>
                  <a:cubicBezTo>
                    <a:pt x="0" y="21322"/>
                    <a:pt x="21322" y="0"/>
                    <a:pt x="47625" y="0"/>
                  </a:cubicBezTo>
                  <a:close/>
                </a:path>
              </a:pathLst>
            </a:custGeom>
            <a:solidFill>
              <a:srgbClr val="D97706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651808" y="2653189"/>
              <a:ext cx="66358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75" b="1" dirty="0">
                  <a:solidFill>
                    <a:srgbClr val="1A1814"/>
                  </a:solidFill>
                  <a:latin typeface="Arial"/>
                  <a:ea typeface="Microsoft YaHei"/>
                  <a:cs typeface="Arial"/>
                </a:rPr>
                <a:t>31.9%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45808" y="3148489"/>
              <a:ext cx="204349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75" dirty="0">
                  <a:solidFill>
                    <a:srgbClr val="4A4640"/>
                  </a:solidFill>
                  <a:latin typeface="Arial"/>
                  <a:ea typeface="Microsoft YaHei"/>
                  <a:cs typeface="Arial"/>
                </a:rPr>
                <a:t>AMT_REQ_BUREAU_*</a:t>
              </a:r>
            </a:p>
          </p:txBody>
        </p:sp>
        <p:sp>
          <p:nvSpPr>
            <p:cNvPr id="18" name="Freeform 18"/>
            <p:cNvSpPr/>
            <p:nvPr/>
          </p:nvSpPr>
          <p:spPr>
            <a:xfrm>
              <a:off x="3238500" y="3095625"/>
              <a:ext cx="7277100" cy="323850"/>
            </a:xfrm>
            <a:custGeom>
              <a:avLst/>
              <a:gdLst/>
              <a:ahLst/>
              <a:cxnLst/>
              <a:rect l="l" t="t" r="r" b="b"/>
              <a:pathLst>
                <a:path w="7277100" h="323850">
                  <a:moveTo>
                    <a:pt x="47625" y="0"/>
                  </a:moveTo>
                  <a:lnTo>
                    <a:pt x="7229475" y="0"/>
                  </a:lnTo>
                  <a:cubicBezTo>
                    <a:pt x="7255778" y="0"/>
                    <a:pt x="7277100" y="21322"/>
                    <a:pt x="7277100" y="47625"/>
                  </a:cubicBezTo>
                  <a:lnTo>
                    <a:pt x="7277100" y="276225"/>
                  </a:lnTo>
                  <a:cubicBezTo>
                    <a:pt x="7277100" y="302528"/>
                    <a:pt x="7255778" y="323850"/>
                    <a:pt x="7229475" y="323850"/>
                  </a:cubicBezTo>
                  <a:lnTo>
                    <a:pt x="47625" y="323850"/>
                  </a:lnTo>
                  <a:cubicBezTo>
                    <a:pt x="21322" y="323850"/>
                    <a:pt x="0" y="302528"/>
                    <a:pt x="0" y="276225"/>
                  </a:cubicBezTo>
                  <a:lnTo>
                    <a:pt x="0" y="47625"/>
                  </a:lnTo>
                  <a:cubicBezTo>
                    <a:pt x="0" y="21322"/>
                    <a:pt x="21322" y="0"/>
                    <a:pt x="47625" y="0"/>
                  </a:cubicBezTo>
                  <a:close/>
                </a:path>
              </a:pathLst>
            </a:custGeom>
            <a:solidFill>
              <a:srgbClr val="F5F3ED"/>
            </a:solidFill>
            <a:ln w="9525">
              <a:solidFill>
                <a:srgbClr val="DDD9D0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3238500" y="3095625"/>
              <a:ext cx="981075" cy="323850"/>
            </a:xfrm>
            <a:custGeom>
              <a:avLst/>
              <a:gdLst/>
              <a:ahLst/>
              <a:cxnLst/>
              <a:rect l="l" t="t" r="r" b="b"/>
              <a:pathLst>
                <a:path w="981075" h="323850">
                  <a:moveTo>
                    <a:pt x="47625" y="0"/>
                  </a:moveTo>
                  <a:lnTo>
                    <a:pt x="933450" y="0"/>
                  </a:lnTo>
                  <a:cubicBezTo>
                    <a:pt x="959753" y="0"/>
                    <a:pt x="981075" y="21322"/>
                    <a:pt x="981075" y="47625"/>
                  </a:cubicBezTo>
                  <a:lnTo>
                    <a:pt x="981075" y="276225"/>
                  </a:lnTo>
                  <a:cubicBezTo>
                    <a:pt x="981075" y="302528"/>
                    <a:pt x="959753" y="323850"/>
                    <a:pt x="933450" y="323850"/>
                  </a:cubicBezTo>
                  <a:lnTo>
                    <a:pt x="47625" y="323850"/>
                  </a:lnTo>
                  <a:cubicBezTo>
                    <a:pt x="21322" y="323850"/>
                    <a:pt x="0" y="302528"/>
                    <a:pt x="0" y="276225"/>
                  </a:cubicBezTo>
                  <a:lnTo>
                    <a:pt x="0" y="47625"/>
                  </a:lnTo>
                  <a:cubicBezTo>
                    <a:pt x="0" y="21322"/>
                    <a:pt x="21322" y="0"/>
                    <a:pt x="47625" y="0"/>
                  </a:cubicBezTo>
                  <a:close/>
                </a:path>
              </a:pathLst>
            </a:custGeom>
            <a:solidFill>
              <a:srgbClr val="2C2A25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651808" y="3177064"/>
              <a:ext cx="66358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75" b="1" dirty="0">
                  <a:solidFill>
                    <a:srgbClr val="1A1814"/>
                  </a:solidFill>
                  <a:latin typeface="Arial"/>
                  <a:ea typeface="Microsoft YaHei"/>
                  <a:cs typeface="Arial"/>
                </a:rPr>
                <a:t>13.5%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45808" y="3672364"/>
              <a:ext cx="151885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75" dirty="0">
                  <a:solidFill>
                    <a:srgbClr val="4A4640"/>
                  </a:solidFill>
                  <a:latin typeface="Arial"/>
                  <a:ea typeface="Microsoft YaHei"/>
                  <a:cs typeface="Arial"/>
                </a:rPr>
                <a:t>EXT_SOURCE_2</a:t>
              </a:r>
            </a:p>
          </p:txBody>
        </p:sp>
        <p:sp>
          <p:nvSpPr>
            <p:cNvPr id="22" name="Freeform 22"/>
            <p:cNvSpPr/>
            <p:nvPr/>
          </p:nvSpPr>
          <p:spPr>
            <a:xfrm>
              <a:off x="3238500" y="3619500"/>
              <a:ext cx="7277100" cy="323850"/>
            </a:xfrm>
            <a:custGeom>
              <a:avLst/>
              <a:gdLst/>
              <a:ahLst/>
              <a:cxnLst/>
              <a:rect l="l" t="t" r="r" b="b"/>
              <a:pathLst>
                <a:path w="7277100" h="323850">
                  <a:moveTo>
                    <a:pt x="47625" y="0"/>
                  </a:moveTo>
                  <a:lnTo>
                    <a:pt x="7229475" y="0"/>
                  </a:lnTo>
                  <a:cubicBezTo>
                    <a:pt x="7255778" y="0"/>
                    <a:pt x="7277100" y="21322"/>
                    <a:pt x="7277100" y="47625"/>
                  </a:cubicBezTo>
                  <a:lnTo>
                    <a:pt x="7277100" y="276225"/>
                  </a:lnTo>
                  <a:cubicBezTo>
                    <a:pt x="7277100" y="302528"/>
                    <a:pt x="7255778" y="323850"/>
                    <a:pt x="7229475" y="323850"/>
                  </a:cubicBezTo>
                  <a:lnTo>
                    <a:pt x="47625" y="323850"/>
                  </a:lnTo>
                  <a:cubicBezTo>
                    <a:pt x="21322" y="323850"/>
                    <a:pt x="0" y="302528"/>
                    <a:pt x="0" y="276225"/>
                  </a:cubicBezTo>
                  <a:lnTo>
                    <a:pt x="0" y="47625"/>
                  </a:lnTo>
                  <a:cubicBezTo>
                    <a:pt x="0" y="21322"/>
                    <a:pt x="21322" y="0"/>
                    <a:pt x="47625" y="0"/>
                  </a:cubicBezTo>
                  <a:close/>
                </a:path>
              </a:pathLst>
            </a:custGeom>
            <a:solidFill>
              <a:srgbClr val="F5F3ED"/>
            </a:solidFill>
            <a:ln w="9525">
              <a:solidFill>
                <a:srgbClr val="DDD9D0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3238500" y="3619500"/>
              <a:ext cx="19050" cy="323850"/>
            </a:xfrm>
            <a:prstGeom prst="rect">
              <a:avLst/>
            </a:prstGeom>
            <a:solidFill>
              <a:srgbClr val="2C2A25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0651808" y="3700939"/>
              <a:ext cx="53734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75" b="1" dirty="0">
                  <a:solidFill>
                    <a:srgbClr val="1A1814"/>
                  </a:solidFill>
                  <a:latin typeface="Arial"/>
                  <a:ea typeface="Microsoft YaHei"/>
                  <a:cs typeface="Arial"/>
                </a:rPr>
                <a:t>0.2%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762000" y="4286250"/>
            <a:ext cx="10668000" cy="1905000"/>
            <a:chOff x="762000" y="4286250"/>
            <a:chExt cx="10668000" cy="1905000"/>
          </a:xfrm>
        </p:grpSpPr>
        <p:sp>
          <p:nvSpPr>
            <p:cNvPr id="26" name="Freeform 26"/>
            <p:cNvSpPr/>
            <p:nvPr/>
          </p:nvSpPr>
          <p:spPr>
            <a:xfrm>
              <a:off x="762000" y="4286250"/>
              <a:ext cx="10668000" cy="1905000"/>
            </a:xfrm>
            <a:custGeom>
              <a:avLst/>
              <a:gdLst/>
              <a:ahLst/>
              <a:cxnLst/>
              <a:rect l="l" t="t" r="r" b="b"/>
              <a:pathLst>
                <a:path w="10668000" h="1905000">
                  <a:moveTo>
                    <a:pt x="95250" y="0"/>
                  </a:moveTo>
                  <a:lnTo>
                    <a:pt x="10572750" y="0"/>
                  </a:lnTo>
                  <a:cubicBezTo>
                    <a:pt x="10625355" y="0"/>
                    <a:pt x="10668000" y="42645"/>
                    <a:pt x="10668000" y="95250"/>
                  </a:cubicBezTo>
                  <a:lnTo>
                    <a:pt x="10668000" y="1809750"/>
                  </a:lnTo>
                  <a:cubicBezTo>
                    <a:pt x="10668000" y="1862355"/>
                    <a:pt x="10625355" y="1905000"/>
                    <a:pt x="10572750" y="1905000"/>
                  </a:cubicBezTo>
                  <a:lnTo>
                    <a:pt x="95250" y="1905000"/>
                  </a:lnTo>
                  <a:cubicBezTo>
                    <a:pt x="42645" y="1905000"/>
                    <a:pt x="0" y="1862355"/>
                    <a:pt x="0" y="18097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5F3ED"/>
            </a:solidFill>
            <a:ln w="9525">
              <a:solidFill>
                <a:srgbClr val="DDD9D0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029652" y="4561046"/>
              <a:ext cx="2178238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5" b="1" dirty="0">
                  <a:solidFill>
                    <a:srgbClr val="1A1814"/>
                  </a:solidFill>
                  <a:latin typeface="Arial"/>
                  <a:ea typeface="Microsoft YaHei"/>
                  <a:cs typeface="Arial"/>
                </a:rPr>
                <a:t>Lo que esto dicta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31558" y="4929664"/>
              <a:ext cx="781668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75" dirty="0">
                  <a:solidFill>
                    <a:srgbClr val="4A4640"/>
                  </a:solidFill>
                  <a:latin typeface="Arial"/>
                  <a:ea typeface="Microsoft YaHei"/>
                  <a:cs typeface="Arial"/>
                </a:rPr>
                <a:t>▸</a:t>
              </a:r>
              <a:r>
                <a:rPr lang="en-US" sz="1275" b="1" dirty="0">
                  <a:solidFill>
                    <a:srgbClr val="4A4640"/>
                  </a:solidFill>
                  <a:latin typeface="Arial"/>
                  <a:ea typeface="Microsoft YaHei"/>
                  <a:cs typeface="Arial"/>
                </a:rPr>
                <a:t>No imputar EXT_SOURCE</a:t>
              </a:r>
              <a:r>
                <a:rPr lang="en-US" sz="1275" dirty="0">
                  <a:solidFill>
                    <a:srgbClr val="4A4640"/>
                  </a:solidFill>
                  <a:latin typeface="Arial"/>
                  <a:ea typeface="Microsoft YaHei"/>
                  <a:cs typeface="Arial"/>
                </a:rPr>
                <a:t>: un nulo en EXT_SOURCE_3 tiene tasa de default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31558" y="5196364"/>
              <a:ext cx="641546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75" dirty="0">
                  <a:solidFill>
                    <a:srgbClr val="4A4640"/>
                  </a:solidFill>
                  <a:latin typeface="Arial"/>
                  <a:ea typeface="Microsoft YaHei"/>
                  <a:cs typeface="Arial"/>
                </a:rPr>
                <a:t>de 8.9% vs 7.7% cuando está presente — el faltante predice.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31558" y="5558314"/>
              <a:ext cx="671057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75" dirty="0">
                  <a:solidFill>
                    <a:srgbClr val="4A4640"/>
                  </a:solidFill>
                  <a:latin typeface="Arial"/>
                  <a:ea typeface="Microsoft YaHei"/>
                  <a:cs typeface="Arial"/>
                </a:rPr>
                <a:t>▸ LightGBM/CatBoost manejan NaN nativamente → conservarlos.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31558" y="5825014"/>
              <a:ext cx="535333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75" dirty="0">
                  <a:solidFill>
                    <a:srgbClr val="4A4640"/>
                  </a:solidFill>
                  <a:latin typeface="Arial"/>
                  <a:ea typeface="Microsoft YaHei"/>
                  <a:cs typeface="Arial"/>
                </a:rPr>
                <a:t>▸ Añadir flags</a:t>
              </a:r>
              <a:r>
                <a:rPr lang="en-US" sz="1125" dirty="0">
                  <a:solidFill>
                    <a:srgbClr val="4A4640"/>
                  </a:solidFill>
                  <a:latin typeface="Consolas"/>
                  <a:ea typeface="Microsoft YaHei"/>
                  <a:cs typeface="Consolas"/>
                </a:rPr>
                <a:t>*_ISNA</a:t>
              </a:r>
              <a:r>
                <a:rPr lang="en-US" sz="1275" dirty="0">
                  <a:solidFill>
                    <a:srgbClr val="4A4640"/>
                  </a:solidFill>
                  <a:latin typeface="Arial"/>
                  <a:ea typeface="Microsoft YaHei"/>
                  <a:cs typeface="Arial"/>
                </a:rPr>
                <a:t>en columnas con &gt;30% de nulos.</a:t>
              </a:r>
            </a:p>
          </p:txBody>
        </p:sp>
      </p:grpSp>
    </p:spTree>
  </p:cSld>
  <p:clrMapOvr>
    <a:masterClrMapping/>
  </p:clrMapOvr>
  <p:transition 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CF9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48665" y="553402"/>
            <a:ext cx="265242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spc="300" dirty="0">
                <a:solidFill>
                  <a:srgbClr val="6B665D"/>
                </a:solidFill>
                <a:latin typeface="Arial"/>
                <a:ea typeface="Microsoft YaHei"/>
                <a:cs typeface="Arial"/>
              </a:rPr>
              <a:t>03 · SEÑAL UNIVARIADA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23900" y="819150"/>
            <a:ext cx="1131570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000" dirty="0">
                <a:solidFill>
                  <a:srgbClr val="1A1814"/>
                </a:solidFill>
                <a:latin typeface="Georgia"/>
                <a:ea typeface="SimSun"/>
                <a:cs typeface="Georgia"/>
              </a:rPr>
              <a:t>Qué variables empujan el default (correlación con TARGET)</a:t>
            </a:r>
          </a:p>
        </p:txBody>
      </p:sp>
      <p:sp>
        <p:nvSpPr>
          <p:cNvPr id="5" name="Line 5"/>
          <p:cNvSpPr/>
          <p:nvPr/>
        </p:nvSpPr>
        <p:spPr>
          <a:xfrm>
            <a:off x="6096000" y="1476375"/>
            <a:ext cx="9525" cy="4381500"/>
          </a:xfrm>
          <a:custGeom>
            <a:avLst/>
            <a:gdLst/>
            <a:ahLst/>
            <a:cxnLst/>
            <a:rect l="l" t="t" r="r" b="b"/>
            <a:pathLst>
              <a:path w="9525" h="4381500">
                <a:moveTo>
                  <a:pt x="0" y="0"/>
                </a:moveTo>
                <a:lnTo>
                  <a:pt x="0" y="4381500"/>
                </a:lnTo>
              </a:path>
            </a:pathLst>
          </a:custGeom>
          <a:noFill/>
          <a:ln w="19050">
            <a:solidFill>
              <a:srgbClr val="DDD9D0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1678519" y="1315402"/>
            <a:ext cx="235796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dirty="0">
                <a:solidFill>
                  <a:srgbClr val="6B665D"/>
                </a:solidFill>
                <a:latin typeface="Arial"/>
                <a:ea typeface="Microsoft YaHei"/>
                <a:cs typeface="Arial"/>
              </a:rPr>
              <a:t>← protege (menor default)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578572" y="1315402"/>
            <a:ext cx="151185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dirty="0">
                <a:solidFill>
                  <a:srgbClr val="6B665D"/>
                </a:solidFill>
                <a:latin typeface="Arial"/>
                <a:ea typeface="Microsoft YaHei"/>
                <a:cs typeface="Arial"/>
              </a:rPr>
              <a:t>aumenta riesgo →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582168" y="1619250"/>
            <a:ext cx="7037832" cy="3905250"/>
            <a:chOff x="582168" y="1619250"/>
            <a:chExt cx="7037832" cy="3905250"/>
          </a:xfrm>
        </p:grpSpPr>
        <p:sp>
          <p:nvSpPr>
            <p:cNvPr id="8" name="TextBox 8"/>
            <p:cNvSpPr txBox="1"/>
            <p:nvPr/>
          </p:nvSpPr>
          <p:spPr>
            <a:xfrm>
              <a:off x="1713738" y="1680210"/>
              <a:ext cx="142951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4A4640"/>
                  </a:solidFill>
                  <a:latin typeface="Arial"/>
                  <a:ea typeface="Microsoft YaHei"/>
                  <a:cs typeface="Arial"/>
                </a:rPr>
                <a:t>EXT_SOURCE_3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3238500" y="1619250"/>
              <a:ext cx="2857500" cy="247650"/>
            </a:xfrm>
            <a:prstGeom prst="rect">
              <a:avLst/>
            </a:prstGeom>
            <a:solidFill>
              <a:srgbClr val="16A34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257381" y="1670685"/>
              <a:ext cx="74336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b="1" dirty="0">
                  <a:solidFill>
                    <a:srgbClr val="FDFCF9"/>
                  </a:solidFill>
                  <a:latin typeface="Arial"/>
                  <a:ea typeface="Microsoft YaHei"/>
                  <a:cs typeface="Arial"/>
                </a:rPr>
                <a:t>−0.178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13738" y="2080260"/>
              <a:ext cx="142951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4A4640"/>
                  </a:solidFill>
                  <a:latin typeface="Arial"/>
                  <a:ea typeface="Microsoft YaHei"/>
                  <a:cs typeface="Arial"/>
                </a:rPr>
                <a:t>EXT_SOURCE_2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3486150" y="2019300"/>
              <a:ext cx="2609850" cy="247650"/>
            </a:xfrm>
            <a:prstGeom prst="rect">
              <a:avLst/>
            </a:prstGeom>
            <a:solidFill>
              <a:srgbClr val="16A34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257381" y="2070735"/>
              <a:ext cx="74336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b="1" dirty="0">
                  <a:solidFill>
                    <a:srgbClr val="FDFCF9"/>
                  </a:solidFill>
                  <a:latin typeface="Arial"/>
                  <a:ea typeface="Microsoft YaHei"/>
                  <a:cs typeface="Arial"/>
                </a:rPr>
                <a:t>−0.163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713738" y="2480310"/>
              <a:ext cx="142951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4A4640"/>
                  </a:solidFill>
                  <a:latin typeface="Arial"/>
                  <a:ea typeface="Microsoft YaHei"/>
                  <a:cs typeface="Arial"/>
                </a:rPr>
                <a:t>EXT_SOURCE_1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3619500" y="2419350"/>
              <a:ext cx="2476500" cy="247650"/>
            </a:xfrm>
            <a:prstGeom prst="rect">
              <a:avLst/>
            </a:prstGeom>
            <a:solidFill>
              <a:srgbClr val="16A34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257381" y="2470785"/>
              <a:ext cx="74336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b="1" dirty="0">
                  <a:solidFill>
                    <a:srgbClr val="FDFCF9"/>
                  </a:solidFill>
                  <a:latin typeface="Arial"/>
                  <a:ea typeface="Microsoft YaHei"/>
                  <a:cs typeface="Arial"/>
                </a:rPr>
                <a:t>−0.154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291971" y="2880360"/>
              <a:ext cx="185127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4A4640"/>
                  </a:solidFill>
                  <a:latin typeface="Arial"/>
                  <a:ea typeface="Microsoft YaHei"/>
                  <a:cs typeface="Arial"/>
                </a:rPr>
                <a:t>DAYS_BIRTH (edad)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096000" y="2819400"/>
              <a:ext cx="1524000" cy="247650"/>
            </a:xfrm>
            <a:prstGeom prst="rect">
              <a:avLst/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176010" y="2870835"/>
              <a:ext cx="70942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FDFCF9"/>
                  </a:solidFill>
                  <a:latin typeface="Arial"/>
                  <a:ea typeface="Microsoft YaHei"/>
                  <a:cs typeface="Arial"/>
                </a:rPr>
                <a:t>+0.080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62787" y="3280410"/>
              <a:ext cx="218046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4A4640"/>
                  </a:solidFill>
                  <a:latin typeface="Arial"/>
                  <a:ea typeface="Microsoft YaHei"/>
                  <a:cs typeface="Arial"/>
                </a:rPr>
                <a:t>REGION_RATING_CLIENT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096000" y="3219450"/>
              <a:ext cx="1123950" cy="247650"/>
            </a:xfrm>
            <a:prstGeom prst="rect">
              <a:avLst/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176010" y="3270885"/>
              <a:ext cx="70942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FDFCF9"/>
                  </a:solidFill>
                  <a:latin typeface="Arial"/>
                  <a:ea typeface="Microsoft YaHei"/>
                  <a:cs typeface="Arial"/>
                </a:rPr>
                <a:t>+0.059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82168" y="3680460"/>
              <a:ext cx="256108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4A4640"/>
                  </a:solidFill>
                  <a:latin typeface="Arial"/>
                  <a:ea typeface="Microsoft YaHei"/>
                  <a:cs typeface="Arial"/>
                </a:rPr>
                <a:t>DAYS_LAST_PHONE_CHANGE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096000" y="3619500"/>
              <a:ext cx="1047750" cy="247650"/>
            </a:xfrm>
            <a:prstGeom prst="rect">
              <a:avLst/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176010" y="3670935"/>
              <a:ext cx="70942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FDFCF9"/>
                  </a:solidFill>
                  <a:latin typeface="Arial"/>
                  <a:ea typeface="Microsoft YaHei"/>
                  <a:cs typeface="Arial"/>
                </a:rPr>
                <a:t>+0.055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518285" y="4080510"/>
              <a:ext cx="162496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4A4640"/>
                  </a:solidFill>
                  <a:latin typeface="Arial"/>
                  <a:ea typeface="Microsoft YaHei"/>
                  <a:cs typeface="Arial"/>
                </a:rPr>
                <a:t>DAYS_ID_PUBLISH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096000" y="4019550"/>
              <a:ext cx="1009650" cy="247650"/>
            </a:xfrm>
            <a:prstGeom prst="rect">
              <a:avLst/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176010" y="4070985"/>
              <a:ext cx="70942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FDFCF9"/>
                  </a:solidFill>
                  <a:latin typeface="Arial"/>
                  <a:ea typeface="Microsoft YaHei"/>
                  <a:cs typeface="Arial"/>
                </a:rPr>
                <a:t>+0.053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446276" y="4480560"/>
              <a:ext cx="169697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4A4640"/>
                  </a:solidFill>
                  <a:latin typeface="Arial"/>
                  <a:ea typeface="Microsoft YaHei"/>
                  <a:cs typeface="Arial"/>
                </a:rPr>
                <a:t>FLAG_EMP_PHONE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096000" y="4419600"/>
              <a:ext cx="876300" cy="247650"/>
            </a:xfrm>
            <a:prstGeom prst="rect">
              <a:avLst/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176010" y="4471035"/>
              <a:ext cx="70942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FDFCF9"/>
                  </a:solidFill>
                  <a:latin typeface="Arial"/>
                  <a:ea typeface="Microsoft YaHei"/>
                  <a:cs typeface="Arial"/>
                </a:rPr>
                <a:t>+0.046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559433" y="4880610"/>
              <a:ext cx="158381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4A4640"/>
                  </a:solidFill>
                  <a:latin typeface="Arial"/>
                  <a:ea typeface="Microsoft YaHei"/>
                  <a:cs typeface="Arial"/>
                </a:rPr>
                <a:t>DAYS_EMPLOYED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72100" y="4819650"/>
              <a:ext cx="723900" cy="247650"/>
            </a:xfrm>
            <a:prstGeom prst="rect">
              <a:avLst/>
            </a:prstGeom>
            <a:solidFill>
              <a:srgbClr val="16A34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291328" y="4871085"/>
              <a:ext cx="70942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FDFCF9"/>
                  </a:solidFill>
                  <a:latin typeface="Arial"/>
                  <a:ea typeface="Microsoft YaHei"/>
                  <a:cs typeface="Arial"/>
                </a:rPr>
                <a:t>−0.045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343406" y="5280660"/>
              <a:ext cx="179984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4A4640"/>
                  </a:solidFill>
                  <a:latin typeface="Arial"/>
                  <a:ea typeface="Microsoft YaHei"/>
                  <a:cs typeface="Arial"/>
                </a:rPr>
                <a:t>AMT_GOODS_PRICE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419725" y="5219700"/>
              <a:ext cx="676275" cy="247650"/>
            </a:xfrm>
            <a:prstGeom prst="rect">
              <a:avLst/>
            </a:prstGeom>
            <a:solidFill>
              <a:srgbClr val="16A34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291328" y="5271135"/>
              <a:ext cx="70942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FDFCF9"/>
                  </a:solidFill>
                  <a:latin typeface="Arial"/>
                  <a:ea typeface="Microsoft YaHei"/>
                  <a:cs typeface="Arial"/>
                </a:rPr>
                <a:t>−0.042</a:t>
              </a:r>
            </a:p>
          </p:txBody>
        </p:sp>
      </p:grpSp>
      <p:sp>
        <p:nvSpPr>
          <p:cNvPr id="39" name="Freeform 39"/>
          <p:cNvSpPr/>
          <p:nvPr/>
        </p:nvSpPr>
        <p:spPr>
          <a:xfrm>
            <a:off x="762000" y="5953125"/>
            <a:ext cx="10668000" cy="571500"/>
          </a:xfrm>
          <a:custGeom>
            <a:avLst/>
            <a:gdLst/>
            <a:ahLst/>
            <a:cxnLst/>
            <a:rect l="l" t="t" r="r" b="b"/>
            <a:pathLst>
              <a:path w="10668000" h="571500">
                <a:moveTo>
                  <a:pt x="95250" y="0"/>
                </a:moveTo>
                <a:lnTo>
                  <a:pt x="10572750" y="0"/>
                </a:lnTo>
                <a:cubicBezTo>
                  <a:pt x="10625355" y="0"/>
                  <a:pt x="10668000" y="42645"/>
                  <a:pt x="10668000" y="95250"/>
                </a:cubicBezTo>
                <a:lnTo>
                  <a:pt x="10668000" y="476250"/>
                </a:lnTo>
                <a:cubicBezTo>
                  <a:pt x="10668000" y="528855"/>
                  <a:pt x="10625355" y="571500"/>
                  <a:pt x="10572750" y="571500"/>
                </a:cubicBezTo>
                <a:lnTo>
                  <a:pt x="95250" y="571500"/>
                </a:lnTo>
                <a:cubicBezTo>
                  <a:pt x="42645" y="571500"/>
                  <a:pt x="0" y="528855"/>
                  <a:pt x="0" y="476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3ED"/>
          </a:solidFill>
          <a:ln w="9525">
            <a:solidFill>
              <a:srgbClr val="DDD9D0"/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1031557" y="6167914"/>
            <a:ext cx="11008042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75" dirty="0">
                <a:solidFill>
                  <a:srgbClr val="4A4640"/>
                </a:solidFill>
                <a:latin typeface="Arial"/>
                <a:ea typeface="Microsoft YaHei"/>
                <a:cs typeface="Arial"/>
              </a:rPr>
              <a:t>Los 3 scores externos dominan con el triple de señal → el feature engineering se concentra ahí (polinómicas, stats, flags de nulo).</a:t>
            </a:r>
          </a:p>
        </p:txBody>
      </p:sp>
    </p:spTree>
  </p:cSld>
  <p:clrMapOvr>
    <a:masterClrMapping/>
  </p:clrMapOvr>
  <p:transition 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CF9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48665" y="553402"/>
            <a:ext cx="287102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spc="300" dirty="0">
                <a:solidFill>
                  <a:srgbClr val="6B665D"/>
                </a:solidFill>
                <a:latin typeface="Arial"/>
                <a:ea typeface="Microsoft YaHei"/>
                <a:cs typeface="Arial"/>
              </a:rPr>
              <a:t>04 · HALLAZGOS DEL EDA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23900" y="819150"/>
            <a:ext cx="1131570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000" dirty="0">
                <a:solidFill>
                  <a:srgbClr val="1A1814"/>
                </a:solidFill>
                <a:latin typeface="Georgia"/>
                <a:ea typeface="SimSun"/>
                <a:cs typeface="Georgia"/>
              </a:rPr>
              <a:t>Tres trampas que el preprocesamiento debe resolver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762000" y="1524000"/>
            <a:ext cx="10668000" cy="4572000"/>
            <a:chOff x="762000" y="1524000"/>
            <a:chExt cx="10668000" cy="4572000"/>
          </a:xfrm>
        </p:grpSpPr>
        <p:sp>
          <p:nvSpPr>
            <p:cNvPr id="5" name="Freeform 5"/>
            <p:cNvSpPr/>
            <p:nvPr/>
          </p:nvSpPr>
          <p:spPr>
            <a:xfrm>
              <a:off x="762000" y="1524000"/>
              <a:ext cx="3429000" cy="4572000"/>
            </a:xfrm>
            <a:custGeom>
              <a:avLst/>
              <a:gdLst/>
              <a:ahLst/>
              <a:cxnLst/>
              <a:rect l="l" t="t" r="r" b="b"/>
              <a:pathLst>
                <a:path w="3429000" h="4572000">
                  <a:moveTo>
                    <a:pt x="114300" y="0"/>
                  </a:moveTo>
                  <a:lnTo>
                    <a:pt x="3314700" y="0"/>
                  </a:lnTo>
                  <a:cubicBezTo>
                    <a:pt x="3377826" y="0"/>
                    <a:pt x="3429000" y="51174"/>
                    <a:pt x="3429000" y="114300"/>
                  </a:cubicBezTo>
                  <a:lnTo>
                    <a:pt x="3429000" y="4457700"/>
                  </a:lnTo>
                  <a:cubicBezTo>
                    <a:pt x="3429000" y="4520826"/>
                    <a:pt x="3377826" y="4572000"/>
                    <a:pt x="3314700" y="4572000"/>
                  </a:cubicBezTo>
                  <a:lnTo>
                    <a:pt x="114300" y="4572000"/>
                  </a:lnTo>
                  <a:cubicBezTo>
                    <a:pt x="51174" y="4572000"/>
                    <a:pt x="0" y="4520826"/>
                    <a:pt x="0" y="4457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5F3ED"/>
            </a:solidFill>
            <a:ln w="9525">
              <a:solidFill>
                <a:srgbClr val="DDD9D0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033462" y="1831181"/>
              <a:ext cx="90956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b="1" dirty="0">
                  <a:solidFill>
                    <a:srgbClr val="DC2626"/>
                  </a:solidFill>
                  <a:latin typeface="Arial"/>
                  <a:ea typeface="Microsoft YaHei"/>
                  <a:cs typeface="Arial"/>
                </a:rPr>
                <a:t>TRAMPA 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27748" y="2096929"/>
              <a:ext cx="2180698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75" b="1" dirty="0">
                  <a:solidFill>
                    <a:srgbClr val="1A1814"/>
                  </a:solidFill>
                  <a:latin typeface="Arial"/>
                  <a:ea typeface="Microsoft YaHei"/>
                  <a:cs typeface="Arial"/>
                </a:rPr>
                <a:t>DAYS_EMPLOYED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27748" y="2344579"/>
              <a:ext cx="1216677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75" b="1" dirty="0">
                  <a:solidFill>
                    <a:srgbClr val="1A1814"/>
                  </a:solidFill>
                  <a:latin typeface="Arial"/>
                  <a:ea typeface="Microsoft YaHei"/>
                  <a:cs typeface="Arial"/>
                </a:rPr>
                <a:t>= 365243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15365" y="2677478"/>
              <a:ext cx="1327178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b="1" dirty="0">
                  <a:solidFill>
                    <a:srgbClr val="1A1814"/>
                  </a:solidFill>
                  <a:latin typeface="Arial"/>
                  <a:ea typeface="Microsoft YaHei"/>
                  <a:cs typeface="Arial"/>
                </a:rPr>
                <a:t>18.0%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34415" y="3087052"/>
              <a:ext cx="183589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B665D"/>
                  </a:solidFill>
                  <a:latin typeface="Arial"/>
                  <a:ea typeface="Microsoft YaHei"/>
                  <a:cs typeface="Arial"/>
                </a:rPr>
                <a:t>de las filas (30,898)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33462" y="3498056"/>
              <a:ext cx="274820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4A4640"/>
                  </a:solidFill>
                  <a:latin typeface="Arial"/>
                  <a:ea typeface="Microsoft YaHei"/>
                  <a:cs typeface="Arial"/>
                </a:rPr>
                <a:t>Código especial (desempleado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33462" y="3707606"/>
              <a:ext cx="303752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4A4640"/>
                  </a:solidFill>
                  <a:latin typeface="Arial"/>
                  <a:ea typeface="Microsoft YaHei"/>
                  <a:cs typeface="Arial"/>
                </a:rPr>
                <a:t>o pensionado), no un valor real.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33462" y="4069556"/>
              <a:ext cx="265176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4A4640"/>
                  </a:solidFill>
                  <a:latin typeface="Arial"/>
                  <a:ea typeface="Microsoft YaHei"/>
                  <a:cs typeface="Arial"/>
                </a:rPr>
                <a:t>Default de este grupo: 5.4%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33462" y="4279106"/>
              <a:ext cx="174521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4A4640"/>
                  </a:solidFill>
                  <a:latin typeface="Arial"/>
                  <a:ea typeface="Microsoft YaHei"/>
                  <a:cs typeface="Arial"/>
                </a:rPr>
                <a:t>vs 8.7% del resto.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1047750" y="4667250"/>
              <a:ext cx="2857500" cy="9525"/>
            </a:xfrm>
            <a:custGeom>
              <a:avLst/>
              <a:gdLst/>
              <a:ahLst/>
              <a:cxnLst/>
              <a:rect l="l" t="t" r="r" b="b"/>
              <a:pathLst>
                <a:path w="2857500" h="9525">
                  <a:moveTo>
                    <a:pt x="0" y="0"/>
                  </a:moveTo>
                  <a:lnTo>
                    <a:pt x="2857500" y="0"/>
                  </a:lnTo>
                </a:path>
              </a:pathLst>
            </a:custGeom>
            <a:noFill/>
            <a:ln w="9525">
              <a:solidFill>
                <a:srgbClr val="DDD9D0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33462" y="4879181"/>
              <a:ext cx="26310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b="1" dirty="0">
                  <a:solidFill>
                    <a:srgbClr val="1A1814"/>
                  </a:solidFill>
                  <a:latin typeface="Arial"/>
                  <a:ea typeface="Microsoft YaHei"/>
                  <a:cs typeface="Arial"/>
                </a:rPr>
                <a:t>Acción: flag binario + NaN,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33462" y="5098256"/>
              <a:ext cx="29145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b="1" dirty="0">
                  <a:solidFill>
                    <a:srgbClr val="1A1814"/>
                  </a:solidFill>
                  <a:latin typeface="Arial"/>
                  <a:ea typeface="Microsoft YaHei"/>
                  <a:cs typeface="Arial"/>
                </a:rPr>
                <a:t>nunca tratarlo como número.</a:t>
              </a:r>
            </a:p>
          </p:txBody>
        </p:sp>
        <p:sp>
          <p:nvSpPr>
            <p:cNvPr id="18" name="Freeform 18"/>
            <p:cNvSpPr/>
            <p:nvPr/>
          </p:nvSpPr>
          <p:spPr>
            <a:xfrm>
              <a:off x="4381500" y="1524000"/>
              <a:ext cx="3429000" cy="4572000"/>
            </a:xfrm>
            <a:custGeom>
              <a:avLst/>
              <a:gdLst/>
              <a:ahLst/>
              <a:cxnLst/>
              <a:rect l="l" t="t" r="r" b="b"/>
              <a:pathLst>
                <a:path w="3429000" h="4572000">
                  <a:moveTo>
                    <a:pt x="114300" y="0"/>
                  </a:moveTo>
                  <a:lnTo>
                    <a:pt x="3314700" y="0"/>
                  </a:lnTo>
                  <a:cubicBezTo>
                    <a:pt x="3377826" y="0"/>
                    <a:pt x="3429000" y="51174"/>
                    <a:pt x="3429000" y="114300"/>
                  </a:cubicBezTo>
                  <a:lnTo>
                    <a:pt x="3429000" y="4457700"/>
                  </a:lnTo>
                  <a:cubicBezTo>
                    <a:pt x="3429000" y="4520826"/>
                    <a:pt x="3377826" y="4572000"/>
                    <a:pt x="3314700" y="4572000"/>
                  </a:cubicBezTo>
                  <a:lnTo>
                    <a:pt x="114300" y="4572000"/>
                  </a:lnTo>
                  <a:cubicBezTo>
                    <a:pt x="51174" y="4572000"/>
                    <a:pt x="0" y="4520826"/>
                    <a:pt x="0" y="4457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5F3ED"/>
            </a:solidFill>
            <a:ln w="9525">
              <a:solidFill>
                <a:srgbClr val="DDD9D0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652962" y="1831181"/>
              <a:ext cx="90956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b="1" dirty="0">
                  <a:solidFill>
                    <a:srgbClr val="D97706"/>
                  </a:solidFill>
                  <a:latin typeface="Arial"/>
                  <a:ea typeface="Microsoft YaHei"/>
                  <a:cs typeface="Arial"/>
                </a:rPr>
                <a:t>TRAMPA 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647248" y="2096929"/>
              <a:ext cx="2563470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75" b="1" dirty="0">
                  <a:solidFill>
                    <a:srgbClr val="1A1814"/>
                  </a:solidFill>
                  <a:latin typeface="Arial"/>
                  <a:ea typeface="Microsoft YaHei"/>
                  <a:cs typeface="Arial"/>
                </a:rPr>
                <a:t>Nulos que predicen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652962" y="2640806"/>
              <a:ext cx="230457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4A4640"/>
                  </a:solidFill>
                  <a:latin typeface="Arial"/>
                  <a:ea typeface="Microsoft YaHei"/>
                  <a:cs typeface="Arial"/>
                </a:rPr>
                <a:t>EXT_SOURCE_3 faltante: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642485" y="2818448"/>
              <a:ext cx="151619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1A1814"/>
                  </a:solidFill>
                  <a:latin typeface="Arial"/>
                  <a:ea typeface="Microsoft YaHei"/>
                  <a:cs typeface="Arial"/>
                </a:rPr>
                <a:t>8.9%</a:t>
              </a:r>
              <a:r>
                <a:rPr lang="en-US" sz="1125" dirty="0">
                  <a:solidFill>
                    <a:srgbClr val="6B665D"/>
                  </a:solidFill>
                  <a:latin typeface="Arial"/>
                  <a:ea typeface="Microsoft YaHei"/>
                  <a:cs typeface="Arial"/>
                </a:rPr>
                <a:t>default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652962" y="3231356"/>
              <a:ext cx="235279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4A4640"/>
                  </a:solidFill>
                  <a:latin typeface="Arial"/>
                  <a:ea typeface="Microsoft YaHei"/>
                  <a:cs typeface="Arial"/>
                </a:rPr>
                <a:t>EXT_SOURCE_3 presente: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642485" y="3408998"/>
              <a:ext cx="151619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1A1814"/>
                  </a:solidFill>
                  <a:latin typeface="Arial"/>
                  <a:ea typeface="Microsoft YaHei"/>
                  <a:cs typeface="Arial"/>
                </a:rPr>
                <a:t>7.7%</a:t>
              </a:r>
              <a:r>
                <a:rPr lang="en-US" sz="1125" dirty="0">
                  <a:solidFill>
                    <a:srgbClr val="6B665D"/>
                  </a:solidFill>
                  <a:latin typeface="Arial"/>
                  <a:ea typeface="Microsoft YaHei"/>
                  <a:cs typeface="Arial"/>
                </a:rPr>
                <a:t>default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4667250" y="4667250"/>
              <a:ext cx="2857500" cy="9525"/>
            </a:xfrm>
            <a:custGeom>
              <a:avLst/>
              <a:gdLst/>
              <a:ahLst/>
              <a:cxnLst/>
              <a:rect l="l" t="t" r="r" b="b"/>
              <a:pathLst>
                <a:path w="2857500" h="9525">
                  <a:moveTo>
                    <a:pt x="0" y="0"/>
                  </a:moveTo>
                  <a:lnTo>
                    <a:pt x="2857500" y="0"/>
                  </a:lnTo>
                </a:path>
              </a:pathLst>
            </a:custGeom>
            <a:noFill/>
            <a:ln w="9525">
              <a:solidFill>
                <a:srgbClr val="DDD9D0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652962" y="4879181"/>
              <a:ext cx="295506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b="1" dirty="0">
                  <a:solidFill>
                    <a:srgbClr val="1A1814"/>
                  </a:solidFill>
                  <a:latin typeface="Arial"/>
                  <a:ea typeface="Microsoft YaHei"/>
                  <a:cs typeface="Arial"/>
                </a:rPr>
                <a:t>Acción: conservar NaN + flags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652962" y="5098256"/>
              <a:ext cx="36639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b="1" dirty="0">
                  <a:solidFill>
                    <a:srgbClr val="1A1814"/>
                  </a:solidFill>
                  <a:latin typeface="Arial"/>
                  <a:ea typeface="Microsoft YaHei"/>
                  <a:cs typeface="Arial"/>
                </a:rPr>
                <a:t>EXT_*_ISNA. Imputar destruye señal.</a:t>
              </a:r>
            </a:p>
          </p:txBody>
        </p:sp>
        <p:sp>
          <p:nvSpPr>
            <p:cNvPr id="28" name="Freeform 28"/>
            <p:cNvSpPr/>
            <p:nvPr/>
          </p:nvSpPr>
          <p:spPr>
            <a:xfrm>
              <a:off x="8001000" y="1524000"/>
              <a:ext cx="3429000" cy="4572000"/>
            </a:xfrm>
            <a:custGeom>
              <a:avLst/>
              <a:gdLst/>
              <a:ahLst/>
              <a:cxnLst/>
              <a:rect l="l" t="t" r="r" b="b"/>
              <a:pathLst>
                <a:path w="3429000" h="4572000">
                  <a:moveTo>
                    <a:pt x="114300" y="0"/>
                  </a:moveTo>
                  <a:lnTo>
                    <a:pt x="3314700" y="0"/>
                  </a:lnTo>
                  <a:cubicBezTo>
                    <a:pt x="3377826" y="0"/>
                    <a:pt x="3429000" y="51174"/>
                    <a:pt x="3429000" y="114300"/>
                  </a:cubicBezTo>
                  <a:lnTo>
                    <a:pt x="3429000" y="4457700"/>
                  </a:lnTo>
                  <a:cubicBezTo>
                    <a:pt x="3429000" y="4520826"/>
                    <a:pt x="3377826" y="4572000"/>
                    <a:pt x="3314700" y="4572000"/>
                  </a:cubicBezTo>
                  <a:lnTo>
                    <a:pt x="114300" y="4572000"/>
                  </a:lnTo>
                  <a:cubicBezTo>
                    <a:pt x="51174" y="4572000"/>
                    <a:pt x="0" y="4520826"/>
                    <a:pt x="0" y="4457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5F3ED"/>
            </a:solidFill>
            <a:ln w="9525">
              <a:solidFill>
                <a:srgbClr val="DDD9D0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272462" y="1831181"/>
              <a:ext cx="90956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b="1" dirty="0">
                  <a:solidFill>
                    <a:srgbClr val="2C2A25"/>
                  </a:solidFill>
                  <a:latin typeface="Arial"/>
                  <a:ea typeface="Microsoft YaHei"/>
                  <a:cs typeface="Arial"/>
                </a:rPr>
                <a:t>TRAMPA 3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266748" y="2096929"/>
              <a:ext cx="2237405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75" b="1" dirty="0">
                  <a:solidFill>
                    <a:srgbClr val="1A1814"/>
                  </a:solidFill>
                  <a:latin typeface="Arial"/>
                  <a:ea typeface="Microsoft YaHei"/>
                  <a:cs typeface="Arial"/>
                </a:rPr>
                <a:t>Target encoding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266748" y="2344579"/>
              <a:ext cx="1613627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75" b="1" dirty="0">
                  <a:solidFill>
                    <a:srgbClr val="1A1814"/>
                  </a:solidFill>
                  <a:latin typeface="Arial"/>
                  <a:ea typeface="Microsoft YaHei"/>
                  <a:cs typeface="Arial"/>
                </a:rPr>
                <a:t>con leakage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272462" y="2831306"/>
              <a:ext cx="197667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4A4640"/>
                  </a:solidFill>
                  <a:latin typeface="Arial"/>
                  <a:ea typeface="Microsoft YaHei"/>
                  <a:cs typeface="Arial"/>
                </a:rPr>
                <a:t>ORGANIZATION_TYPE y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272462" y="3040856"/>
              <a:ext cx="27289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4A4640"/>
                  </a:solidFill>
                  <a:latin typeface="Arial"/>
                  <a:ea typeface="Microsoft YaHei"/>
                  <a:cs typeface="Arial"/>
                </a:rPr>
                <a:t>OCCUPATION_TYPE tienen alta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272462" y="3250406"/>
              <a:ext cx="271926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4A4640"/>
                  </a:solidFill>
                  <a:latin typeface="Arial"/>
                  <a:ea typeface="Microsoft YaHei"/>
                  <a:cs typeface="Arial"/>
                </a:rPr>
                <a:t>cardinalidad. Encoding global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272462" y="3459956"/>
              <a:ext cx="292179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4A4640"/>
                  </a:solidFill>
                  <a:latin typeface="Arial"/>
                  <a:ea typeface="Microsoft YaHei"/>
                  <a:cs typeface="Arial"/>
                </a:rPr>
                <a:t>= la fila se predice a sí misma.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8286750" y="4667250"/>
              <a:ext cx="2857500" cy="9525"/>
            </a:xfrm>
            <a:custGeom>
              <a:avLst/>
              <a:gdLst/>
              <a:ahLst/>
              <a:cxnLst/>
              <a:rect l="l" t="t" r="r" b="b"/>
              <a:pathLst>
                <a:path w="2857500" h="9525">
                  <a:moveTo>
                    <a:pt x="0" y="0"/>
                  </a:moveTo>
                  <a:lnTo>
                    <a:pt x="2857500" y="0"/>
                  </a:lnTo>
                </a:path>
              </a:pathLst>
            </a:custGeom>
            <a:noFill/>
            <a:ln w="9525">
              <a:solidFill>
                <a:srgbClr val="DDD9D0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272462" y="4879181"/>
              <a:ext cx="286392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b="1" dirty="0">
                  <a:solidFill>
                    <a:srgbClr val="1A1814"/>
                  </a:solidFill>
                  <a:latin typeface="Arial"/>
                  <a:ea typeface="Microsoft YaHei"/>
                  <a:cs typeface="Arial"/>
                </a:rPr>
                <a:t>Acción: target encoding OOF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272462" y="5098256"/>
              <a:ext cx="298544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b="1" dirty="0">
                  <a:solidFill>
                    <a:srgbClr val="1A1814"/>
                  </a:solidFill>
                  <a:latin typeface="Arial"/>
                  <a:ea typeface="Microsoft YaHei"/>
                  <a:cs typeface="Arial"/>
                </a:rPr>
                <a:t>(out-of-fold) con smoothing.</a:t>
              </a:r>
            </a:p>
          </p:txBody>
        </p:sp>
      </p:grpSp>
    </p:spTree>
  </p:cSld>
  <p:clrMapOvr>
    <a:masterClrMapping/>
  </p:clrMapOvr>
  <p:transition 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CF9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48665" y="553402"/>
            <a:ext cx="420833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spc="300" dirty="0">
                <a:solidFill>
                  <a:srgbClr val="6B665D"/>
                </a:solidFill>
                <a:latin typeface="Arial"/>
                <a:ea typeface="Microsoft YaHei"/>
                <a:cs typeface="Arial"/>
              </a:rPr>
              <a:t>05 · PREPROCESAMIENTO REQUERIDO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23900" y="819150"/>
            <a:ext cx="1131570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000" dirty="0">
                <a:solidFill>
                  <a:srgbClr val="1A1814"/>
                </a:solidFill>
                <a:latin typeface="Georgia"/>
                <a:ea typeface="SimSun"/>
                <a:cs typeface="Georgia"/>
              </a:rPr>
              <a:t>Lo obligatorio: reglas de la competencia y del formato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762000" y="1476375"/>
            <a:ext cx="10668000" cy="3924300"/>
            <a:chOff x="762000" y="1476375"/>
            <a:chExt cx="10668000" cy="3924300"/>
          </a:xfrm>
        </p:grpSpPr>
        <p:sp>
          <p:nvSpPr>
            <p:cNvPr id="5" name="Freeform 5"/>
            <p:cNvSpPr/>
            <p:nvPr/>
          </p:nvSpPr>
          <p:spPr>
            <a:xfrm>
              <a:off x="762000" y="1476375"/>
              <a:ext cx="10668000" cy="495300"/>
            </a:xfrm>
            <a:custGeom>
              <a:avLst/>
              <a:gdLst/>
              <a:ahLst/>
              <a:cxnLst/>
              <a:rect l="l" t="t" r="r" b="b"/>
              <a:pathLst>
                <a:path w="10668000" h="495300">
                  <a:moveTo>
                    <a:pt x="76200" y="0"/>
                  </a:moveTo>
                  <a:lnTo>
                    <a:pt x="10591800" y="0"/>
                  </a:lnTo>
                  <a:cubicBezTo>
                    <a:pt x="10633884" y="0"/>
                    <a:pt x="10668000" y="34116"/>
                    <a:pt x="10668000" y="76200"/>
                  </a:cubicBezTo>
                  <a:lnTo>
                    <a:pt x="10668000" y="419100"/>
                  </a:lnTo>
                  <a:cubicBezTo>
                    <a:pt x="10668000" y="461184"/>
                    <a:pt x="10633884" y="495300"/>
                    <a:pt x="10591800" y="495300"/>
                  </a:cubicBezTo>
                  <a:lnTo>
                    <a:pt x="76200" y="495300"/>
                  </a:lnTo>
                  <a:cubicBezTo>
                    <a:pt x="34116" y="495300"/>
                    <a:pt x="0" y="461184"/>
                    <a:pt x="0" y="4191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2C2A25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984885" y="1651635"/>
              <a:ext cx="57054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F5F3ED"/>
                  </a:solidFill>
                  <a:latin typeface="Arial"/>
                  <a:ea typeface="Microsoft YaHei"/>
                  <a:cs typeface="Arial"/>
                </a:rPr>
                <a:t>Regla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556760" y="1651635"/>
              <a:ext cx="261200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F5F3ED"/>
                  </a:solidFill>
                  <a:latin typeface="Arial"/>
                  <a:ea typeface="Microsoft YaHei"/>
                  <a:cs typeface="Arial"/>
                </a:rPr>
                <a:t>Qué implica en el pipeline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700260" y="1651635"/>
              <a:ext cx="73256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F5F3ED"/>
                  </a:solidFill>
                  <a:latin typeface="Arial"/>
                  <a:ea typeface="Microsoft YaHei"/>
                  <a:cs typeface="Arial"/>
                </a:rPr>
                <a:t>Origen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762000" y="1971675"/>
              <a:ext cx="10668000" cy="685800"/>
            </a:xfrm>
            <a:prstGeom prst="rect">
              <a:avLst/>
            </a:prstGeom>
            <a:solidFill>
              <a:srgbClr val="FDFCF9"/>
            </a:solidFill>
            <a:ln w="9525">
              <a:solidFill>
                <a:srgbClr val="DDD9D0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84885" y="2137410"/>
              <a:ext cx="239597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A1814"/>
                  </a:solidFill>
                  <a:latin typeface="Arial"/>
                  <a:ea typeface="Microsoft YaHei"/>
                  <a:cs typeface="Arial"/>
                </a:rPr>
                <a:t>Formato de submission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556760" y="2137410"/>
              <a:ext cx="459790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4A4640"/>
                  </a:solidFill>
                  <a:latin typeface="Arial"/>
                  <a:ea typeface="Microsoft YaHei"/>
                  <a:cs typeface="Arial"/>
                </a:rPr>
                <a:t>CSV SK_ID_CURR,TARGET con probabilidad (0–1)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558665" y="2363152"/>
              <a:ext cx="270900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B665D"/>
                  </a:solidFill>
                  <a:latin typeface="Arial"/>
                  <a:ea typeface="Microsoft YaHei"/>
                  <a:cs typeface="Arial"/>
                </a:rPr>
                <a:t>Formato incorrecto = score −1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700260" y="2137410"/>
              <a:ext cx="75057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B665D"/>
                  </a:solidFill>
                  <a:latin typeface="Arial"/>
                  <a:ea typeface="Microsoft YaHei"/>
                  <a:cs typeface="Arial"/>
                </a:rPr>
                <a:t>README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762000" y="2657475"/>
              <a:ext cx="10668000" cy="685800"/>
            </a:xfrm>
            <a:prstGeom prst="rect">
              <a:avLst/>
            </a:prstGeom>
            <a:solidFill>
              <a:srgbClr val="F5F3ED"/>
            </a:solidFill>
            <a:ln w="9525">
              <a:solidFill>
                <a:srgbClr val="DDD9D0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84885" y="2823210"/>
              <a:ext cx="200712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A1814"/>
                  </a:solidFill>
                  <a:latin typeface="Arial"/>
                  <a:ea typeface="Microsoft YaHei"/>
                  <a:cs typeface="Arial"/>
                </a:rPr>
                <a:t>Sin datos externos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556760" y="2823210"/>
              <a:ext cx="35280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4A4640"/>
                  </a:solidFill>
                  <a:latin typeface="Arial"/>
                  <a:ea typeface="Microsoft YaHei"/>
                  <a:cs typeface="Arial"/>
                </a:rPr>
                <a:t>Solo train.csv / test.csv oficiales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558665" y="3048952"/>
              <a:ext cx="38071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B665D"/>
                  </a:solidFill>
                  <a:latin typeface="Arial"/>
                  <a:ea typeface="Microsoft YaHei"/>
                  <a:cs typeface="Arial"/>
                </a:rPr>
                <a:t>Nada de tablas auxiliares del Kaggle original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700260" y="2823210"/>
              <a:ext cx="65798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B665D"/>
                  </a:solidFill>
                  <a:latin typeface="Arial"/>
                  <a:ea typeface="Microsoft YaHei"/>
                  <a:cs typeface="Arial"/>
                </a:rPr>
                <a:t>Reglas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62000" y="3343275"/>
              <a:ext cx="10668000" cy="685800"/>
            </a:xfrm>
            <a:prstGeom prst="rect">
              <a:avLst/>
            </a:prstGeom>
            <a:solidFill>
              <a:srgbClr val="FDFCF9"/>
            </a:solidFill>
            <a:ln w="9525">
              <a:solidFill>
                <a:srgbClr val="DDD9D0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84885" y="3509010"/>
              <a:ext cx="178029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A1814"/>
                  </a:solidFill>
                  <a:latin typeface="Arial"/>
                  <a:ea typeface="Microsoft YaHei"/>
                  <a:cs typeface="Arial"/>
                </a:rPr>
                <a:t>Sin hand-labeling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556760" y="3509010"/>
              <a:ext cx="335318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4A4640"/>
                  </a:solidFill>
                  <a:latin typeface="Arial"/>
                  <a:ea typeface="Microsoft YaHei"/>
                  <a:cs typeface="Arial"/>
                </a:rPr>
                <a:t>Todo criterio sale del modelo / CV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58665" y="3734752"/>
              <a:ext cx="332108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B665D"/>
                  </a:solidFill>
                  <a:latin typeface="Arial"/>
                  <a:ea typeface="Microsoft YaHei"/>
                  <a:cs typeface="Arial"/>
                </a:rPr>
                <a:t>Ni umbrales ni reglas manuales del EDA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700260" y="3509010"/>
              <a:ext cx="65798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B665D"/>
                  </a:solidFill>
                  <a:latin typeface="Arial"/>
                  <a:ea typeface="Microsoft YaHei"/>
                  <a:cs typeface="Arial"/>
                </a:rPr>
                <a:t>Reglas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762000" y="4029075"/>
              <a:ext cx="10668000" cy="685800"/>
            </a:xfrm>
            <a:prstGeom prst="rect">
              <a:avLst/>
            </a:prstGeom>
            <a:solidFill>
              <a:srgbClr val="F5F3ED"/>
            </a:solidFill>
            <a:ln w="9525">
              <a:solidFill>
                <a:srgbClr val="DDD9D0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84885" y="4194810"/>
              <a:ext cx="171549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A1814"/>
                  </a:solidFill>
                  <a:latin typeface="Arial"/>
                  <a:ea typeface="Microsoft YaHei"/>
                  <a:cs typeface="Arial"/>
                </a:rPr>
                <a:t>Reproducibilidad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556760" y="4194810"/>
              <a:ext cx="478307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4A4640"/>
                  </a:solidFill>
                  <a:latin typeface="Arial"/>
                  <a:ea typeface="Microsoft YaHei"/>
                  <a:cs typeface="Arial"/>
                </a:rPr>
                <a:t>Seeds fijas en src/config.py, versiones fijadas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558665" y="4420552"/>
              <a:ext cx="388815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B665D"/>
                  </a:solidFill>
                  <a:latin typeface="Arial"/>
                  <a:ea typeface="Microsoft YaHei"/>
                  <a:cs typeface="Arial"/>
                </a:rPr>
                <a:t>2 corridas = CSV idéntico (requisito Honors)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700260" y="4194810"/>
              <a:ext cx="65798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B665D"/>
                  </a:solidFill>
                  <a:latin typeface="Arial"/>
                  <a:ea typeface="Microsoft YaHei"/>
                  <a:cs typeface="Arial"/>
                </a:rPr>
                <a:t>Reglas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762000" y="4714875"/>
              <a:ext cx="10668000" cy="685800"/>
            </a:xfrm>
            <a:prstGeom prst="rect">
              <a:avLst/>
            </a:prstGeom>
            <a:solidFill>
              <a:srgbClr val="FDFCF9"/>
            </a:solidFill>
            <a:ln w="9525">
              <a:solidFill>
                <a:srgbClr val="DDD9D0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84885" y="4880610"/>
              <a:ext cx="57054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A1814"/>
                  </a:solidFill>
                  <a:latin typeface="Arial"/>
                  <a:ea typeface="Microsoft YaHei"/>
                  <a:cs typeface="Arial"/>
                </a:rPr>
                <a:t>Citas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556760" y="4880610"/>
              <a:ext cx="389839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4A4640"/>
                  </a:solidFill>
                  <a:latin typeface="Arial"/>
                  <a:ea typeface="Microsoft YaHei"/>
                  <a:cs typeface="Arial"/>
                </a:rPr>
                <a:t>Toda fuente de código/idea en refs.md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558665" y="5106352"/>
              <a:ext cx="328507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B665D"/>
                  </a:solidFill>
                  <a:latin typeface="Arial"/>
                  <a:ea typeface="Microsoft YaHei"/>
                  <a:cs typeface="Arial"/>
                </a:rPr>
                <a:t>Sin citas = descalificación de premios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700260" y="4880610"/>
              <a:ext cx="65798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B665D"/>
                  </a:solidFill>
                  <a:latin typeface="Arial"/>
                  <a:ea typeface="Microsoft YaHei"/>
                  <a:cs typeface="Arial"/>
                </a:rPr>
                <a:t>Reglas</a:t>
              </a:r>
            </a:p>
          </p:txBody>
        </p:sp>
      </p:grpSp>
      <p:sp>
        <p:nvSpPr>
          <p:cNvPr id="35" name="Freeform 35"/>
          <p:cNvSpPr/>
          <p:nvPr/>
        </p:nvSpPr>
        <p:spPr>
          <a:xfrm>
            <a:off x="762000" y="5715000"/>
            <a:ext cx="10668000" cy="666750"/>
          </a:xfrm>
          <a:custGeom>
            <a:avLst/>
            <a:gdLst/>
            <a:ahLst/>
            <a:cxnLst/>
            <a:rect l="l" t="t" r="r" b="b"/>
            <a:pathLst>
              <a:path w="10668000" h="666750">
                <a:moveTo>
                  <a:pt x="95250" y="0"/>
                </a:moveTo>
                <a:lnTo>
                  <a:pt x="10572750" y="0"/>
                </a:lnTo>
                <a:cubicBezTo>
                  <a:pt x="10625355" y="0"/>
                  <a:pt x="10668000" y="42645"/>
                  <a:pt x="10668000" y="95250"/>
                </a:cubicBezTo>
                <a:lnTo>
                  <a:pt x="10668000" y="571500"/>
                </a:lnTo>
                <a:cubicBezTo>
                  <a:pt x="10668000" y="624105"/>
                  <a:pt x="10625355" y="666750"/>
                  <a:pt x="10572750" y="666750"/>
                </a:cubicBezTo>
                <a:lnTo>
                  <a:pt x="95250" y="666750"/>
                </a:lnTo>
                <a:cubicBezTo>
                  <a:pt x="42645" y="666750"/>
                  <a:pt x="0" y="624105"/>
                  <a:pt x="0" y="5715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3ED"/>
          </a:solidFill>
          <a:ln w="9525">
            <a:solidFill>
              <a:srgbClr val="DDD9D0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1032510" y="5852160"/>
            <a:ext cx="856354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4A4640"/>
                </a:solidFill>
                <a:latin typeface="Arial"/>
                <a:ea typeface="Microsoft YaHei"/>
                <a:cs typeface="Arial"/>
              </a:rPr>
              <a:t>⚠ Regla de oro interna:</a:t>
            </a:r>
            <a:r>
              <a:rPr lang="en-US" sz="1200" b="1" dirty="0">
                <a:solidFill>
                  <a:srgbClr val="1A1814"/>
                </a:solidFill>
                <a:latin typeface="Arial"/>
                <a:ea typeface="Microsoft YaHei"/>
                <a:cs typeface="Arial"/>
              </a:rPr>
              <a:t>solo cuenta la última submission</a:t>
            </a:r>
            <a:r>
              <a:rPr lang="en-US" sz="1200" dirty="0">
                <a:solidFill>
                  <a:srgbClr val="4A4640"/>
                </a:solidFill>
                <a:latin typeface="Arial"/>
                <a:ea typeface="Microsoft YaHei"/>
                <a:cs typeface="Arial"/>
              </a:rPr>
              <a:t>— el archivo final se elige por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032510" y="6099810"/>
            <a:ext cx="833208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4A4640"/>
                </a:solidFill>
                <a:latin typeface="Arial"/>
                <a:ea typeface="Microsoft YaHei"/>
                <a:cs typeface="Arial"/>
              </a:rPr>
              <a:t>Repeated StratifiedKFold, nunca por el public leaderboard (es un subset del test).</a:t>
            </a:r>
          </a:p>
        </p:txBody>
      </p:sp>
    </p:spTree>
  </p:cSld>
  <p:clrMapOvr>
    <a:masterClrMapping/>
  </p:clrMapOvr>
  <p:transition 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CF9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48665" y="553402"/>
            <a:ext cx="403474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spc="300" dirty="0">
                <a:solidFill>
                  <a:srgbClr val="6B665D"/>
                </a:solidFill>
                <a:latin typeface="Arial"/>
                <a:ea typeface="Microsoft YaHei"/>
                <a:cs typeface="Arial"/>
              </a:rPr>
              <a:t>06 · PREPROCESAMIENTO SUGERIDO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23900" y="819150"/>
            <a:ext cx="10234612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000" dirty="0">
                <a:solidFill>
                  <a:srgbClr val="1A1814"/>
                </a:solidFill>
                <a:latin typeface="Georgia"/>
                <a:ea typeface="SimSun"/>
                <a:cs typeface="Georgia"/>
              </a:rPr>
              <a:t>Lo que recomienda la evidencia (y el EDA)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762000" y="1476375"/>
            <a:ext cx="11277600" cy="4810125"/>
            <a:chOff x="762000" y="1476375"/>
            <a:chExt cx="11277600" cy="4810125"/>
          </a:xfrm>
        </p:grpSpPr>
        <p:sp>
          <p:nvSpPr>
            <p:cNvPr id="5" name="Freeform 5"/>
            <p:cNvSpPr/>
            <p:nvPr/>
          </p:nvSpPr>
          <p:spPr>
            <a:xfrm>
              <a:off x="762000" y="1476375"/>
              <a:ext cx="5238750" cy="4810125"/>
            </a:xfrm>
            <a:custGeom>
              <a:avLst/>
              <a:gdLst/>
              <a:ahLst/>
              <a:cxnLst/>
              <a:rect l="l" t="t" r="r" b="b"/>
              <a:pathLst>
                <a:path w="5238750" h="4810125">
                  <a:moveTo>
                    <a:pt x="114300" y="0"/>
                  </a:moveTo>
                  <a:lnTo>
                    <a:pt x="5124450" y="0"/>
                  </a:lnTo>
                  <a:cubicBezTo>
                    <a:pt x="5187576" y="0"/>
                    <a:pt x="5238750" y="51174"/>
                    <a:pt x="5238750" y="114300"/>
                  </a:cubicBezTo>
                  <a:lnTo>
                    <a:pt x="5238750" y="4695825"/>
                  </a:lnTo>
                  <a:cubicBezTo>
                    <a:pt x="5238750" y="4758951"/>
                    <a:pt x="5187576" y="4810125"/>
                    <a:pt x="5124450" y="4810125"/>
                  </a:cubicBezTo>
                  <a:lnTo>
                    <a:pt x="114300" y="4810125"/>
                  </a:lnTo>
                  <a:cubicBezTo>
                    <a:pt x="51174" y="4810125"/>
                    <a:pt x="0" y="4758951"/>
                    <a:pt x="0" y="4695825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5F3ED"/>
            </a:solidFill>
            <a:ln w="9525">
              <a:solidFill>
                <a:srgbClr val="DDD9D0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029652" y="1703546"/>
              <a:ext cx="959710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5" b="1" dirty="0">
                  <a:solidFill>
                    <a:srgbClr val="1A1814"/>
                  </a:solidFill>
                  <a:latin typeface="Arial"/>
                  <a:ea typeface="Microsoft YaHei"/>
                  <a:cs typeface="Arial"/>
                </a:rPr>
                <a:t>Hacer ✔</a:t>
              </a:r>
            </a:p>
          </p:txBody>
        </p:sp>
        <p:grpSp>
          <p:nvGrpSpPr>
            <p:cNvPr id="21" name="Group 21"/>
            <p:cNvGrpSpPr/>
            <p:nvPr/>
          </p:nvGrpSpPr>
          <p:grpSpPr>
            <a:xfrm>
              <a:off x="1033462" y="2088356"/>
              <a:ext cx="5593199" cy="3867150"/>
              <a:chOff x="1033462" y="2088356"/>
              <a:chExt cx="5593199" cy="3867150"/>
            </a:xfrm>
          </p:grpSpPr>
          <p:sp>
            <p:nvSpPr>
              <p:cNvPr id="7" name="TextBox 7"/>
              <p:cNvSpPr txBox="1"/>
              <p:nvPr/>
            </p:nvSpPr>
            <p:spPr>
              <a:xfrm>
                <a:off x="1033462" y="2088356"/>
                <a:ext cx="314746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5" b="1" dirty="0">
                    <a:solidFill>
                      <a:srgbClr val="1A1814"/>
                    </a:solidFill>
                    <a:latin typeface="Arial"/>
                    <a:ea typeface="Microsoft YaHei"/>
                    <a:cs typeface="Arial"/>
                  </a:rPr>
                  <a:t>Conservar NaN en EXT_SOURCE_*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1033462" y="2297906"/>
                <a:ext cx="481203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5" dirty="0">
                    <a:solidFill>
                      <a:srgbClr val="4A4640"/>
                    </a:solidFill>
                    <a:latin typeface="Arial"/>
                    <a:ea typeface="Microsoft YaHei"/>
                    <a:cs typeface="Arial"/>
                  </a:rPr>
                  <a:t>Los árboles los enrutan solos; el faltante predice.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033462" y="2659856"/>
                <a:ext cx="228673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5" b="1" dirty="0">
                    <a:solidFill>
                      <a:srgbClr val="1A1814"/>
                    </a:solidFill>
                    <a:latin typeface="Arial"/>
                    <a:ea typeface="Microsoft YaHei"/>
                    <a:cs typeface="Arial"/>
                  </a:rPr>
                  <a:t>Flags de nulos (*_ISNA)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033462" y="2869406"/>
                <a:ext cx="506277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5" dirty="0">
                    <a:solidFill>
                      <a:srgbClr val="4A4640"/>
                    </a:solidFill>
                    <a:latin typeface="Arial"/>
                    <a:ea typeface="Microsoft YaHei"/>
                    <a:cs typeface="Arial"/>
                  </a:rPr>
                  <a:t>En columnas con &gt;30% NaN: EXT1, EXT3, OWN_CAR_AGE.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033462" y="3231356"/>
                <a:ext cx="3846177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5" b="1" dirty="0">
                    <a:solidFill>
                      <a:srgbClr val="1A1814"/>
                    </a:solidFill>
                    <a:latin typeface="Arial"/>
                    <a:ea typeface="Microsoft YaHei"/>
                    <a:cs typeface="Arial"/>
                  </a:rPr>
                  <a:t>Flag anomalía DAYS_EMPLOYED==365243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033462" y="3440906"/>
                <a:ext cx="418516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5" dirty="0">
                    <a:solidFill>
                      <a:srgbClr val="4A4640"/>
                    </a:solidFill>
                    <a:latin typeface="Arial"/>
                    <a:ea typeface="Microsoft YaHei"/>
                    <a:cs typeface="Arial"/>
                  </a:rPr>
                  <a:t>+ convertir el valor a NaN (18% de las filas).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033462" y="3802856"/>
                <a:ext cx="3522137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5" b="1" dirty="0">
                    <a:solidFill>
                      <a:srgbClr val="1A1814"/>
                    </a:solidFill>
                    <a:latin typeface="Arial"/>
                    <a:ea typeface="Microsoft YaHei"/>
                    <a:cs typeface="Arial"/>
                  </a:rPr>
                  <a:t>Target encoding OOF con smoothing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033462" y="4012406"/>
                <a:ext cx="5593199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5" dirty="0">
                    <a:solidFill>
                      <a:srgbClr val="4A4640"/>
                    </a:solidFill>
                    <a:latin typeface="Arial"/>
                    <a:ea typeface="Microsoft YaHei"/>
                    <a:cs typeface="Arial"/>
                  </a:rPr>
                  <a:t>ORGANIZATION_TYPE y OCCUPATION_TYPE (alta cardinalidad).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033462" y="4374356"/>
                <a:ext cx="337024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5" b="1" dirty="0">
                    <a:solidFill>
                      <a:srgbClr val="1A1814"/>
                    </a:solidFill>
                    <a:latin typeface="Arial"/>
                    <a:ea typeface="Microsoft YaHei"/>
                    <a:cs typeface="Arial"/>
                  </a:rPr>
                  <a:t>One-hot para categóricas simples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033462" y="4583906"/>
                <a:ext cx="505313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5" dirty="0">
                    <a:solidFill>
                      <a:srgbClr val="4A4640"/>
                    </a:solidFill>
                    <a:latin typeface="Arial"/>
                    <a:ea typeface="Microsoft YaHei"/>
                    <a:cs typeface="Arial"/>
                  </a:rPr>
                  <a:t>Contract type, educación, vivienda, estado familiar…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033462" y="4945856"/>
                <a:ext cx="340062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5" b="1" dirty="0">
                    <a:solidFill>
                      <a:srgbClr val="1A1814"/>
                    </a:solidFill>
                    <a:latin typeface="Arial"/>
                    <a:ea typeface="Microsoft YaHei"/>
                    <a:cs typeface="Arial"/>
                  </a:rPr>
                  <a:t>Días → años en features derivadas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033462" y="5155406"/>
                <a:ext cx="505313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5" dirty="0">
                    <a:solidFill>
                      <a:srgbClr val="4A4640"/>
                    </a:solidFill>
                    <a:latin typeface="Arial"/>
                    <a:ea typeface="Microsoft YaHei"/>
                    <a:cs typeface="Arial"/>
                  </a:rPr>
                  <a:t>AGE_YEARS = −DAYS_BIRTH/365.25 (interpretabilidad).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033462" y="5517356"/>
                <a:ext cx="3380369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5" b="1" dirty="0">
                    <a:solidFill>
                      <a:srgbClr val="1A1814"/>
                    </a:solidFill>
                    <a:latin typeface="Arial"/>
                    <a:ea typeface="Microsoft YaHei"/>
                    <a:cs typeface="Arial"/>
                  </a:rPr>
                  <a:t>Frequency encoding como respaldo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033462" y="5726906"/>
                <a:ext cx="470594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5" dirty="0">
                    <a:solidFill>
                      <a:srgbClr val="4A4640"/>
                    </a:solidFill>
                    <a:latin typeface="Arial"/>
                    <a:ea typeface="Microsoft YaHei"/>
                    <a:cs typeface="Arial"/>
                  </a:rPr>
                  <a:t>Complementa al target encoding, no lo reemplaza.</a:t>
                </a:r>
              </a:p>
            </p:txBody>
          </p:sp>
        </p:grpSp>
        <p:sp>
          <p:nvSpPr>
            <p:cNvPr id="22" name="Freeform 22"/>
            <p:cNvSpPr/>
            <p:nvPr/>
          </p:nvSpPr>
          <p:spPr>
            <a:xfrm>
              <a:off x="6286500" y="1476375"/>
              <a:ext cx="5143500" cy="4810125"/>
            </a:xfrm>
            <a:custGeom>
              <a:avLst/>
              <a:gdLst/>
              <a:ahLst/>
              <a:cxnLst/>
              <a:rect l="l" t="t" r="r" b="b"/>
              <a:pathLst>
                <a:path w="5143500" h="4810125">
                  <a:moveTo>
                    <a:pt x="114300" y="0"/>
                  </a:moveTo>
                  <a:lnTo>
                    <a:pt x="5029200" y="0"/>
                  </a:lnTo>
                  <a:cubicBezTo>
                    <a:pt x="5092326" y="0"/>
                    <a:pt x="5143500" y="51174"/>
                    <a:pt x="5143500" y="114300"/>
                  </a:cubicBezTo>
                  <a:lnTo>
                    <a:pt x="5143500" y="4695825"/>
                  </a:lnTo>
                  <a:cubicBezTo>
                    <a:pt x="5143500" y="4758951"/>
                    <a:pt x="5092326" y="4810125"/>
                    <a:pt x="5029200" y="4810125"/>
                  </a:cubicBezTo>
                  <a:lnTo>
                    <a:pt x="114300" y="4810125"/>
                  </a:lnTo>
                  <a:cubicBezTo>
                    <a:pt x="51174" y="4810125"/>
                    <a:pt x="0" y="4758951"/>
                    <a:pt x="0" y="4695825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DFCF9"/>
            </a:solidFill>
            <a:ln w="9525">
              <a:solidFill>
                <a:srgbClr val="DDD9D0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554152" y="1703546"/>
              <a:ext cx="1036670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5" b="1" dirty="0">
                  <a:solidFill>
                    <a:srgbClr val="DC2626"/>
                  </a:solidFill>
                  <a:latin typeface="Arial"/>
                  <a:ea typeface="Microsoft YaHei"/>
                  <a:cs typeface="Arial"/>
                </a:rPr>
                <a:t>Evitar ✘</a:t>
              </a:r>
            </a:p>
          </p:txBody>
        </p:sp>
        <p:grpSp>
          <p:nvGrpSpPr>
            <p:cNvPr id="38" name="Group 38"/>
            <p:cNvGrpSpPr/>
            <p:nvPr/>
          </p:nvGrpSpPr>
          <p:grpSpPr>
            <a:xfrm>
              <a:off x="6557962" y="2088356"/>
              <a:ext cx="5481638" cy="3867150"/>
              <a:chOff x="6557962" y="2088356"/>
              <a:chExt cx="5481638" cy="3867150"/>
            </a:xfrm>
          </p:grpSpPr>
          <p:sp>
            <p:nvSpPr>
              <p:cNvPr id="24" name="TextBox 24"/>
              <p:cNvSpPr txBox="1"/>
              <p:nvPr/>
            </p:nvSpPr>
            <p:spPr>
              <a:xfrm>
                <a:off x="6557962" y="2088356"/>
                <a:ext cx="389680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5" b="1" dirty="0">
                    <a:solidFill>
                      <a:srgbClr val="1A1814"/>
                    </a:solidFill>
                    <a:latin typeface="Arial"/>
                    <a:ea typeface="Microsoft YaHei"/>
                    <a:cs typeface="Arial"/>
                  </a:rPr>
                  <a:t>Imputar EXT_SOURCE con media/mediana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6557962" y="2297906"/>
                <a:ext cx="513028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5" dirty="0">
                    <a:solidFill>
                      <a:srgbClr val="4A4640"/>
                    </a:solidFill>
                    <a:latin typeface="Arial"/>
                    <a:ea typeface="Microsoft YaHei"/>
                    <a:cs typeface="Arial"/>
                  </a:rPr>
                  <a:t>Destruye la señal del faltante (8.9% vs 7.7% default).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6557962" y="2659856"/>
                <a:ext cx="222597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5" b="1" dirty="0">
                    <a:solidFill>
                      <a:srgbClr val="1A1814"/>
                    </a:solidFill>
                    <a:latin typeface="Arial"/>
                    <a:ea typeface="Microsoft YaHei"/>
                    <a:cs typeface="Arial"/>
                  </a:rPr>
                  <a:t>Target encoding global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6557962" y="2869406"/>
                <a:ext cx="447448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5" dirty="0">
                    <a:solidFill>
                      <a:srgbClr val="4A4640"/>
                    </a:solidFill>
                    <a:latin typeface="Arial"/>
                    <a:ea typeface="Microsoft YaHei"/>
                    <a:cs typeface="Arial"/>
                  </a:rPr>
                  <a:t>Leakage directo: CV inflado, LB decepcionante.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6557962" y="3231356"/>
                <a:ext cx="220572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5" b="1" dirty="0">
                    <a:solidFill>
                      <a:srgbClr val="1A1814"/>
                    </a:solidFill>
                    <a:latin typeface="Arial"/>
                    <a:ea typeface="Microsoft YaHei"/>
                    <a:cs typeface="Arial"/>
                  </a:rPr>
                  <a:t>Escalado de numéricas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6557962" y="3440906"/>
                <a:ext cx="518814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5" dirty="0">
                    <a:solidFill>
                      <a:srgbClr val="4A4640"/>
                    </a:solidFill>
                    <a:latin typeface="Arial"/>
                    <a:ea typeface="Microsoft YaHei"/>
                    <a:cs typeface="Arial"/>
                  </a:rPr>
                  <a:t>Innecesario en boosting; solo si entra un modelo lineal.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6557962" y="3802856"/>
                <a:ext cx="3299359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5" b="1" dirty="0">
                    <a:solidFill>
                      <a:srgbClr val="1A1814"/>
                    </a:solidFill>
                    <a:latin typeface="Arial"/>
                    <a:ea typeface="Microsoft YaHei"/>
                    <a:cs typeface="Arial"/>
                  </a:rPr>
                  <a:t>LabelEncoder en alta cardinalidad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6557962" y="4012406"/>
                <a:ext cx="503384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5" dirty="0">
                    <a:solidFill>
                      <a:srgbClr val="4A4640"/>
                    </a:solidFill>
                    <a:latin typeface="Arial"/>
                    <a:ea typeface="Microsoft YaHei"/>
                    <a:cs typeface="Arial"/>
                  </a:rPr>
                  <a:t>Orden artificial sin sentido para ORGANIZATION_TYPE.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6557962" y="4374356"/>
                <a:ext cx="2327237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5" b="1" dirty="0">
                    <a:solidFill>
                      <a:srgbClr val="1A1814"/>
                    </a:solidFill>
                    <a:latin typeface="Arial"/>
                    <a:ea typeface="Microsoft YaHei"/>
                    <a:cs typeface="Arial"/>
                  </a:rPr>
                  <a:t>Reglas manuales del EDA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6557962" y="4583906"/>
                <a:ext cx="538103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5" dirty="0">
                    <a:solidFill>
                      <a:srgbClr val="4A4640"/>
                    </a:solidFill>
                    <a:latin typeface="Arial"/>
                    <a:ea typeface="Microsoft YaHei"/>
                    <a:cs typeface="Arial"/>
                  </a:rPr>
                  <a:t>Prohibido por la competencia (hand-labeling encubierto).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6557962" y="4945856"/>
                <a:ext cx="34310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5" b="1" dirty="0">
                    <a:solidFill>
                      <a:srgbClr val="1A1814"/>
                    </a:solidFill>
                    <a:latin typeface="Arial"/>
                    <a:ea typeface="Microsoft YaHei"/>
                    <a:cs typeface="Arial"/>
                  </a:rPr>
                  <a:t>Submuestrear la clase mayoritaria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6557962" y="5155406"/>
                <a:ext cx="527494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5" dirty="0">
                    <a:solidFill>
                      <a:srgbClr val="4A4640"/>
                    </a:solidFill>
                    <a:latin typeface="Arial"/>
                    <a:ea typeface="Microsoft YaHei"/>
                    <a:cs typeface="Arial"/>
                  </a:rPr>
                  <a:t>Con AUC no aporta; mejor class weights si hiciera falta.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6557962" y="5517356"/>
                <a:ext cx="366390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5" b="1" dirty="0">
                    <a:solidFill>
                      <a:srgbClr val="1A1814"/>
                    </a:solidFill>
                    <a:latin typeface="Arial"/>
                    <a:ea typeface="Microsoft YaHei"/>
                    <a:cs typeface="Arial"/>
                  </a:rPr>
                  <a:t>Feature selection agresiva temprana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6557962" y="5726906"/>
                <a:ext cx="548163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5" dirty="0">
                    <a:solidFill>
                      <a:srgbClr val="4A4640"/>
                    </a:solidFill>
                    <a:latin typeface="Arial"/>
                    <a:ea typeface="Microsoft YaHei"/>
                    <a:cs typeface="Arial"/>
                  </a:rPr>
                  <a:t>~150 features es manejable; seleccionar solo si CV lo pide.</a:t>
                </a:r>
              </a:p>
            </p:txBody>
          </p:sp>
        </p:grpSp>
      </p:grpSp>
    </p:spTree>
  </p:cSld>
  <p:clrMapOvr>
    <a:masterClrMapping/>
  </p:clrMapOvr>
  <p:transition 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CF9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48665" y="553402"/>
            <a:ext cx="306519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spc="300" dirty="0">
                <a:solidFill>
                  <a:srgbClr val="6B665D"/>
                </a:solidFill>
                <a:latin typeface="Arial"/>
                <a:ea typeface="Microsoft YaHei"/>
                <a:cs typeface="Arial"/>
              </a:rPr>
              <a:t>07 · FEATURE ENGINEERING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23900" y="819150"/>
            <a:ext cx="8640128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000" dirty="0">
                <a:solidFill>
                  <a:srgbClr val="1A1814"/>
                </a:solidFill>
                <a:latin typeface="Georgia"/>
                <a:ea typeface="SimSun"/>
                <a:cs typeface="Georgia"/>
              </a:rPr>
              <a:t>Variables a crear: cuatro familias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762000" y="1476375"/>
            <a:ext cx="11277600" cy="4857750"/>
            <a:chOff x="762000" y="1476375"/>
            <a:chExt cx="11277600" cy="4857750"/>
          </a:xfrm>
        </p:grpSpPr>
        <p:sp>
          <p:nvSpPr>
            <p:cNvPr id="5" name="Freeform 5"/>
            <p:cNvSpPr/>
            <p:nvPr/>
          </p:nvSpPr>
          <p:spPr>
            <a:xfrm>
              <a:off x="762000" y="1476375"/>
              <a:ext cx="5238750" cy="2333625"/>
            </a:xfrm>
            <a:custGeom>
              <a:avLst/>
              <a:gdLst/>
              <a:ahLst/>
              <a:cxnLst/>
              <a:rect l="l" t="t" r="r" b="b"/>
              <a:pathLst>
                <a:path w="5238750" h="2333625">
                  <a:moveTo>
                    <a:pt x="114300" y="0"/>
                  </a:moveTo>
                  <a:lnTo>
                    <a:pt x="5124450" y="0"/>
                  </a:lnTo>
                  <a:cubicBezTo>
                    <a:pt x="5187576" y="0"/>
                    <a:pt x="5238750" y="51174"/>
                    <a:pt x="5238750" y="114300"/>
                  </a:cubicBezTo>
                  <a:lnTo>
                    <a:pt x="5238750" y="2219325"/>
                  </a:lnTo>
                  <a:cubicBezTo>
                    <a:pt x="5238750" y="2282451"/>
                    <a:pt x="5187576" y="2333625"/>
                    <a:pt x="5124450" y="2333625"/>
                  </a:cubicBezTo>
                  <a:lnTo>
                    <a:pt x="114300" y="2333625"/>
                  </a:lnTo>
                  <a:cubicBezTo>
                    <a:pt x="51174" y="2333625"/>
                    <a:pt x="0" y="2282451"/>
                    <a:pt x="0" y="2219325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5F3ED"/>
            </a:solidFill>
            <a:ln w="9525">
              <a:solidFill>
                <a:srgbClr val="DDD9D0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029652" y="1703546"/>
              <a:ext cx="3807216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5" b="1" dirty="0">
                  <a:solidFill>
                    <a:srgbClr val="1A1814"/>
                  </a:solidFill>
                  <a:latin typeface="Arial"/>
                  <a:ea typeface="Microsoft YaHei"/>
                  <a:cs typeface="Arial"/>
                </a:rPr>
                <a:t>① Ratios financieros (dominio)</a:t>
              </a:r>
            </a:p>
          </p:txBody>
        </p:sp>
        <p:grpSp>
          <p:nvGrpSpPr>
            <p:cNvPr id="12" name="Group 12"/>
            <p:cNvGrpSpPr/>
            <p:nvPr/>
          </p:nvGrpSpPr>
          <p:grpSpPr>
            <a:xfrm>
              <a:off x="1034415" y="2077402"/>
              <a:ext cx="4536234" cy="1203960"/>
              <a:chOff x="1034415" y="2077402"/>
              <a:chExt cx="4536234" cy="1203960"/>
            </a:xfrm>
          </p:grpSpPr>
          <p:sp>
            <p:nvSpPr>
              <p:cNvPr id="7" name="TextBox 7"/>
              <p:cNvSpPr txBox="1"/>
              <p:nvPr/>
            </p:nvSpPr>
            <p:spPr>
              <a:xfrm>
                <a:off x="1034415" y="2077402"/>
                <a:ext cx="379814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4A4640"/>
                    </a:solidFill>
                    <a:latin typeface="Consolas"/>
                    <a:ea typeface="Microsoft YaHei"/>
                    <a:cs typeface="Consolas"/>
                  </a:rPr>
                  <a:t>CREDIT_ANNUITY = AMT_CREDIT / AMT_ANNUITY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1034415" y="2325052"/>
                <a:ext cx="394215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4A4640"/>
                    </a:solidFill>
                    <a:latin typeface="Consolas"/>
                    <a:ea typeface="Microsoft YaHei"/>
                    <a:cs typeface="Consolas"/>
                  </a:rPr>
                  <a:t>ANNUITY_INCOME = AMT_ANNUITY / AMT_INCOME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034415" y="2572702"/>
                <a:ext cx="374413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4A4640"/>
                    </a:solidFill>
                    <a:latin typeface="Consolas"/>
                    <a:ea typeface="Microsoft YaHei"/>
                    <a:cs typeface="Consolas"/>
                  </a:rPr>
                  <a:t>CREDIT_INCOME = AMT_CREDIT / AMT_INCOME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034415" y="2820352"/>
                <a:ext cx="416718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4A4640"/>
                    </a:solidFill>
                    <a:latin typeface="Consolas"/>
                    <a:ea typeface="Microsoft YaHei"/>
                    <a:cs typeface="Consolas"/>
                  </a:rPr>
                  <a:t>DOWNPAYMENT = AMT_GOODS_PRICE − AMT_CREDIT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034415" y="3068002"/>
                <a:ext cx="453623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4A4640"/>
                    </a:solidFill>
                    <a:latin typeface="Consolas"/>
                    <a:ea typeface="Microsoft YaHei"/>
                    <a:cs typeface="Consolas"/>
                  </a:rPr>
                  <a:t>INCOME_PER_FAM = AMT_INCOME / CNT_FAM_MEMBERS</a:t>
                </a:r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1034415" y="3429952"/>
              <a:ext cx="612943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B665D"/>
                  </a:solidFill>
                  <a:latin typeface="Arial"/>
                  <a:ea typeface="Microsoft YaHei"/>
                  <a:cs typeface="Arial"/>
                </a:rPr>
                <a:t>Carga de pago y apalancamiento: la intuición de riesgo hecha feature.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6191250" y="1476375"/>
              <a:ext cx="5238750" cy="2333625"/>
            </a:xfrm>
            <a:custGeom>
              <a:avLst/>
              <a:gdLst/>
              <a:ahLst/>
              <a:cxnLst/>
              <a:rect l="l" t="t" r="r" b="b"/>
              <a:pathLst>
                <a:path w="5238750" h="2333625">
                  <a:moveTo>
                    <a:pt x="114300" y="0"/>
                  </a:moveTo>
                  <a:lnTo>
                    <a:pt x="5124450" y="0"/>
                  </a:lnTo>
                  <a:cubicBezTo>
                    <a:pt x="5187576" y="0"/>
                    <a:pt x="5238750" y="51174"/>
                    <a:pt x="5238750" y="114300"/>
                  </a:cubicBezTo>
                  <a:lnTo>
                    <a:pt x="5238750" y="2219325"/>
                  </a:lnTo>
                  <a:cubicBezTo>
                    <a:pt x="5238750" y="2282451"/>
                    <a:pt x="5187576" y="2333625"/>
                    <a:pt x="5124450" y="2333625"/>
                  </a:cubicBezTo>
                  <a:lnTo>
                    <a:pt x="114300" y="2333625"/>
                  </a:lnTo>
                  <a:cubicBezTo>
                    <a:pt x="51174" y="2333625"/>
                    <a:pt x="0" y="2282451"/>
                    <a:pt x="0" y="2219325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5F3ED"/>
            </a:solidFill>
            <a:ln w="9525">
              <a:solidFill>
                <a:srgbClr val="DDD9D0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458902" y="1703546"/>
              <a:ext cx="4204841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5" b="1" dirty="0">
                  <a:solidFill>
                    <a:srgbClr val="1A1814"/>
                  </a:solidFill>
                  <a:latin typeface="Arial"/>
                  <a:ea typeface="Microsoft YaHei"/>
                  <a:cs typeface="Arial"/>
                </a:rPr>
                <a:t>② EXT_SOURCE: la señal dominante</a:t>
              </a:r>
            </a:p>
          </p:txBody>
        </p:sp>
        <p:grpSp>
          <p:nvGrpSpPr>
            <p:cNvPr id="21" name="Group 21"/>
            <p:cNvGrpSpPr/>
            <p:nvPr/>
          </p:nvGrpSpPr>
          <p:grpSpPr>
            <a:xfrm>
              <a:off x="6463665" y="2077402"/>
              <a:ext cx="3717131" cy="1203960"/>
              <a:chOff x="6463665" y="2077402"/>
              <a:chExt cx="3717131" cy="1203960"/>
            </a:xfrm>
          </p:grpSpPr>
          <p:sp>
            <p:nvSpPr>
              <p:cNvPr id="16" name="TextBox 16"/>
              <p:cNvSpPr txBox="1"/>
              <p:nvPr/>
            </p:nvSpPr>
            <p:spPr>
              <a:xfrm>
                <a:off x="6463665" y="2077402"/>
                <a:ext cx="201591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4A4640"/>
                    </a:solidFill>
                    <a:latin typeface="Consolas"/>
                    <a:ea typeface="Microsoft YaHei"/>
                    <a:cs typeface="Consolas"/>
                  </a:rPr>
                  <a:t>Polinómicas grado 2–3: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6463665" y="2325052"/>
                <a:ext cx="161986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4A4640"/>
                    </a:solidFill>
                    <a:latin typeface="Consolas"/>
                    <a:ea typeface="Microsoft YaHei"/>
                    <a:cs typeface="Consolas"/>
                  </a:rPr>
                  <a:t>EXT1² EXT2² EXT3²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6463665" y="2572702"/>
                <a:ext cx="280801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4A4640"/>
                    </a:solidFill>
                    <a:latin typeface="Consolas"/>
                    <a:ea typeface="Microsoft YaHei"/>
                    <a:cs typeface="Consolas"/>
                  </a:rPr>
                  <a:t>EXT1*EXT2 EXT1*EXT3 EXT2*EXT3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6463665" y="2820352"/>
                <a:ext cx="141284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4A4640"/>
                    </a:solidFill>
                    <a:latin typeface="Consolas"/>
                    <a:ea typeface="Microsoft YaHei"/>
                    <a:cs typeface="Consolas"/>
                  </a:rPr>
                  <a:t>EXT1*EXT2*EXT3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6463665" y="3068002"/>
                <a:ext cx="371713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4A4640"/>
                    </a:solidFill>
                    <a:latin typeface="Consolas"/>
                    <a:ea typeface="Microsoft YaHei"/>
                    <a:cs typeface="Consolas"/>
                  </a:rPr>
                  <a:t>EXT_MEAN EXT_STD EXT_MIN EXT_NAN_COUNT</a:t>
                </a:r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6463665" y="3429952"/>
              <a:ext cx="55759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B665D"/>
                  </a:solidFill>
                  <a:latin typeface="Arial"/>
                  <a:ea typeface="Microsoft YaHei"/>
                  <a:cs typeface="Arial"/>
                </a:rPr>
                <a:t>Correlaciones de −0.15 a −0.18: sus interacciones no lineales pagan.</a:t>
              </a:r>
            </a:p>
          </p:txBody>
        </p:sp>
        <p:sp>
          <p:nvSpPr>
            <p:cNvPr id="23" name="Freeform 23"/>
            <p:cNvSpPr/>
            <p:nvPr/>
          </p:nvSpPr>
          <p:spPr>
            <a:xfrm>
              <a:off x="762000" y="4000500"/>
              <a:ext cx="5238750" cy="2333625"/>
            </a:xfrm>
            <a:custGeom>
              <a:avLst/>
              <a:gdLst/>
              <a:ahLst/>
              <a:cxnLst/>
              <a:rect l="l" t="t" r="r" b="b"/>
              <a:pathLst>
                <a:path w="5238750" h="2333625">
                  <a:moveTo>
                    <a:pt x="114300" y="0"/>
                  </a:moveTo>
                  <a:lnTo>
                    <a:pt x="5124450" y="0"/>
                  </a:lnTo>
                  <a:cubicBezTo>
                    <a:pt x="5187576" y="0"/>
                    <a:pt x="5238750" y="51174"/>
                    <a:pt x="5238750" y="114300"/>
                  </a:cubicBezTo>
                  <a:lnTo>
                    <a:pt x="5238750" y="2219325"/>
                  </a:lnTo>
                  <a:cubicBezTo>
                    <a:pt x="5238750" y="2282451"/>
                    <a:pt x="5187576" y="2333625"/>
                    <a:pt x="5124450" y="2333625"/>
                  </a:cubicBezTo>
                  <a:lnTo>
                    <a:pt x="114300" y="2333625"/>
                  </a:lnTo>
                  <a:cubicBezTo>
                    <a:pt x="51174" y="2333625"/>
                    <a:pt x="0" y="2282451"/>
                    <a:pt x="0" y="2219325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5F3ED"/>
            </a:solidFill>
            <a:ln w="9525">
              <a:solidFill>
                <a:srgbClr val="DDD9D0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029652" y="4227671"/>
              <a:ext cx="2806741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5" b="1" dirty="0">
                  <a:solidFill>
                    <a:srgbClr val="1A1814"/>
                  </a:solidFill>
                  <a:latin typeface="Arial"/>
                  <a:ea typeface="Microsoft YaHei"/>
                  <a:cs typeface="Arial"/>
                </a:rPr>
                <a:t>③ Estabilidad temporal</a:t>
              </a:r>
            </a:p>
          </p:txBody>
        </p:sp>
        <p:grpSp>
          <p:nvGrpSpPr>
            <p:cNvPr id="30" name="Group 30"/>
            <p:cNvGrpSpPr/>
            <p:nvPr/>
          </p:nvGrpSpPr>
          <p:grpSpPr>
            <a:xfrm>
              <a:off x="1034415" y="4601528"/>
              <a:ext cx="4293203" cy="1203960"/>
              <a:chOff x="1034415" y="4601528"/>
              <a:chExt cx="4293203" cy="1203960"/>
            </a:xfrm>
          </p:grpSpPr>
          <p:sp>
            <p:nvSpPr>
              <p:cNvPr id="25" name="TextBox 25"/>
              <p:cNvSpPr txBox="1"/>
              <p:nvPr/>
            </p:nvSpPr>
            <p:spPr>
              <a:xfrm>
                <a:off x="1034415" y="4601528"/>
                <a:ext cx="297003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4A4640"/>
                    </a:solidFill>
                    <a:latin typeface="Consolas"/>
                    <a:ea typeface="Microsoft YaHei"/>
                    <a:cs typeface="Consolas"/>
                  </a:rPr>
                  <a:t>AGE_YEARS = −DAYS_BIRTH / 365.25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034415" y="4849178"/>
                <a:ext cx="395116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4A4640"/>
                    </a:solidFill>
                    <a:latin typeface="Consolas"/>
                    <a:ea typeface="Microsoft YaHei"/>
                    <a:cs typeface="Consolas"/>
                  </a:rPr>
                  <a:t>EMPLOYED_YEARS = −DAYS_EMPLOYED / 365.25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1034415" y="5096828"/>
                <a:ext cx="400516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4A4640"/>
                    </a:solidFill>
                    <a:latin typeface="Consolas"/>
                    <a:ea typeface="Microsoft YaHei"/>
                    <a:cs typeface="Consolas"/>
                  </a:rPr>
                  <a:t>EMPLOYED_PCT = DAYS_EMPLOYED / DAYS_BIRTH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1034415" y="5344478"/>
                <a:ext cx="429320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4A4640"/>
                    </a:solidFill>
                    <a:latin typeface="Consolas"/>
                    <a:ea typeface="Microsoft YaHei"/>
                    <a:cs typeface="Consolas"/>
                  </a:rPr>
                  <a:t>REGISTRATION_YRS = −DAYS_REGISTRATION / 365.25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1034415" y="5592128"/>
                <a:ext cx="416718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4A4640"/>
                    </a:solidFill>
                    <a:latin typeface="Consolas"/>
                    <a:ea typeface="Microsoft YaHei"/>
                    <a:cs typeface="Consolas"/>
                  </a:rPr>
                  <a:t>PHONE_CHANGE_YRS = −DAYS_LAST_PHONE_CHANGE</a:t>
                </a:r>
              </a:p>
            </p:txBody>
          </p:sp>
        </p:grpSp>
        <p:sp>
          <p:nvSpPr>
            <p:cNvPr id="31" name="TextBox 31"/>
            <p:cNvSpPr txBox="1"/>
            <p:nvPr/>
          </p:nvSpPr>
          <p:spPr>
            <a:xfrm>
              <a:off x="1034415" y="5954078"/>
              <a:ext cx="558036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B665D"/>
                  </a:solidFill>
                  <a:latin typeface="Arial"/>
                  <a:ea typeface="Microsoft YaHei"/>
                  <a:cs typeface="Arial"/>
                </a:rPr>
                <a:t>Edad (+0.08) y antigüedad pesan; % de vida laboral las combina.</a:t>
              </a:r>
            </a:p>
          </p:txBody>
        </p:sp>
        <p:sp>
          <p:nvSpPr>
            <p:cNvPr id="32" name="Freeform 32"/>
            <p:cNvSpPr/>
            <p:nvPr/>
          </p:nvSpPr>
          <p:spPr>
            <a:xfrm>
              <a:off x="6191250" y="4000500"/>
              <a:ext cx="5238750" cy="2333625"/>
            </a:xfrm>
            <a:custGeom>
              <a:avLst/>
              <a:gdLst/>
              <a:ahLst/>
              <a:cxnLst/>
              <a:rect l="l" t="t" r="r" b="b"/>
              <a:pathLst>
                <a:path w="5238750" h="2333625">
                  <a:moveTo>
                    <a:pt x="114300" y="0"/>
                  </a:moveTo>
                  <a:lnTo>
                    <a:pt x="5124450" y="0"/>
                  </a:lnTo>
                  <a:cubicBezTo>
                    <a:pt x="5187576" y="0"/>
                    <a:pt x="5238750" y="51174"/>
                    <a:pt x="5238750" y="114300"/>
                  </a:cubicBezTo>
                  <a:lnTo>
                    <a:pt x="5238750" y="2219325"/>
                  </a:lnTo>
                  <a:cubicBezTo>
                    <a:pt x="5238750" y="2282451"/>
                    <a:pt x="5187576" y="2333625"/>
                    <a:pt x="5124450" y="2333625"/>
                  </a:cubicBezTo>
                  <a:lnTo>
                    <a:pt x="114300" y="2333625"/>
                  </a:lnTo>
                  <a:cubicBezTo>
                    <a:pt x="51174" y="2333625"/>
                    <a:pt x="0" y="2282451"/>
                    <a:pt x="0" y="2219325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5F3ED"/>
            </a:solidFill>
            <a:ln w="9525">
              <a:solidFill>
                <a:srgbClr val="DDD9D0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458902" y="4227671"/>
              <a:ext cx="3165886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5" b="1" dirty="0">
                  <a:solidFill>
                    <a:srgbClr val="1A1814"/>
                  </a:solidFill>
                  <a:latin typeface="Arial"/>
                  <a:ea typeface="Microsoft YaHei"/>
                  <a:cs typeface="Arial"/>
                </a:rPr>
                <a:t>④ Buró, contacto y hogar</a:t>
              </a:r>
            </a:p>
          </p:txBody>
        </p:sp>
        <p:grpSp>
          <p:nvGrpSpPr>
            <p:cNvPr id="38" name="Group 38"/>
            <p:cNvGrpSpPr/>
            <p:nvPr/>
          </p:nvGrpSpPr>
          <p:grpSpPr>
            <a:xfrm>
              <a:off x="6463665" y="4601528"/>
              <a:ext cx="3942159" cy="956310"/>
              <a:chOff x="6463665" y="4601528"/>
              <a:chExt cx="3942159" cy="956310"/>
            </a:xfrm>
          </p:grpSpPr>
          <p:sp>
            <p:nvSpPr>
              <p:cNvPr id="34" name="TextBox 34"/>
              <p:cNvSpPr txBox="1"/>
              <p:nvPr/>
            </p:nvSpPr>
            <p:spPr>
              <a:xfrm>
                <a:off x="6463665" y="4601528"/>
                <a:ext cx="371713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4A4640"/>
                    </a:solidFill>
                    <a:latin typeface="Consolas"/>
                    <a:ea typeface="Microsoft YaHei"/>
                    <a:cs typeface="Consolas"/>
                  </a:rPr>
                  <a:t>BUREAU_REQ_TOTAL = HOUR+MON+QRT+YEAR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6463665" y="4849178"/>
                <a:ext cx="309605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4A4640"/>
                    </a:solidFill>
                    <a:latin typeface="Consolas"/>
                    <a:ea typeface="Microsoft YaHei"/>
                    <a:cs typeface="Consolas"/>
                  </a:rPr>
                  <a:t>BUREAU_RECENCY = YEAR / (MON + 1)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6463665" y="5096828"/>
                <a:ext cx="394215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4A4640"/>
                    </a:solidFill>
                    <a:latin typeface="Consolas"/>
                    <a:ea typeface="Microsoft YaHei"/>
                    <a:cs typeface="Consolas"/>
                  </a:rPr>
                  <a:t>PHONE_FLAGS_SUM = MOBIL+EMP+WORK_PHONE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6463665" y="5344478"/>
                <a:ext cx="364512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4A4640"/>
                    </a:solidFill>
                    <a:latin typeface="Consolas"/>
                    <a:ea typeface="Microsoft YaHei"/>
                    <a:cs typeface="Consolas"/>
                  </a:rPr>
                  <a:t>CHILDREN_RATIO = CNT_CHILDREN / CNT_FAM</a:t>
                </a:r>
              </a:p>
            </p:txBody>
          </p:sp>
        </p:grpSp>
        <p:sp>
          <p:nvSpPr>
            <p:cNvPr id="39" name="TextBox 39"/>
            <p:cNvSpPr txBox="1"/>
            <p:nvPr/>
          </p:nvSpPr>
          <p:spPr>
            <a:xfrm>
              <a:off x="6463665" y="5706428"/>
              <a:ext cx="50312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B665D"/>
                  </a:solidFill>
                  <a:latin typeface="Arial"/>
                  <a:ea typeface="Microsoft YaHei"/>
                  <a:cs typeface="Arial"/>
                </a:rPr>
                <a:t>Consultas recientes al buró ≈ desesperación por crédito.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63665" y="5954078"/>
              <a:ext cx="33930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B665D"/>
                  </a:solidFill>
                  <a:latin typeface="Arial"/>
                  <a:ea typeface="Microsoft YaHei"/>
                  <a:cs typeface="Arial"/>
                </a:rPr>
                <a:t>Baratas de calcular, gratis de incluir.</a:t>
              </a:r>
            </a:p>
          </p:txBody>
        </p:sp>
      </p:grpSp>
    </p:spTree>
  </p:cSld>
  <p:clrMapOvr>
    <a:masterClrMapping/>
  </p:clrMapOvr>
  <p:transition 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CF9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48665" y="553402"/>
            <a:ext cx="165716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spc="300" dirty="0">
                <a:solidFill>
                  <a:srgbClr val="6B665D"/>
                </a:solidFill>
                <a:latin typeface="Arial"/>
                <a:ea typeface="Microsoft YaHei"/>
                <a:cs typeface="Arial"/>
              </a:rPr>
              <a:t>08 · MODELOS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23900" y="819150"/>
            <a:ext cx="1131570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000" dirty="0">
                <a:solidFill>
                  <a:srgbClr val="1A1814"/>
                </a:solidFill>
                <a:latin typeface="Georgia"/>
                <a:ea typeface="SimSun"/>
                <a:cs typeface="Georgia"/>
              </a:rPr>
              <a:t>El cuarteto: boosting como columna vertebral</a:t>
            </a:r>
          </a:p>
        </p:txBody>
      </p:sp>
      <p:grpSp>
        <p:nvGrpSpPr>
          <p:cNvPr id="51" name="Group 51"/>
          <p:cNvGrpSpPr/>
          <p:nvPr/>
        </p:nvGrpSpPr>
        <p:grpSpPr>
          <a:xfrm>
            <a:off x="762000" y="1476375"/>
            <a:ext cx="10891554" cy="3714750"/>
            <a:chOff x="762000" y="1476375"/>
            <a:chExt cx="10891554" cy="3714750"/>
          </a:xfrm>
        </p:grpSpPr>
        <p:sp>
          <p:nvSpPr>
            <p:cNvPr id="5" name="Freeform 5"/>
            <p:cNvSpPr/>
            <p:nvPr/>
          </p:nvSpPr>
          <p:spPr>
            <a:xfrm>
              <a:off x="762000" y="1476375"/>
              <a:ext cx="2571750" cy="3714750"/>
            </a:xfrm>
            <a:custGeom>
              <a:avLst/>
              <a:gdLst/>
              <a:ahLst/>
              <a:cxnLst/>
              <a:rect l="l" t="t" r="r" b="b"/>
              <a:pathLst>
                <a:path w="2571750" h="3714750">
                  <a:moveTo>
                    <a:pt x="114300" y="0"/>
                  </a:moveTo>
                  <a:lnTo>
                    <a:pt x="2457450" y="0"/>
                  </a:lnTo>
                  <a:cubicBezTo>
                    <a:pt x="2520576" y="0"/>
                    <a:pt x="2571750" y="51174"/>
                    <a:pt x="2571750" y="114300"/>
                  </a:cubicBezTo>
                  <a:lnTo>
                    <a:pt x="2571750" y="3600450"/>
                  </a:lnTo>
                  <a:cubicBezTo>
                    <a:pt x="2571750" y="3663576"/>
                    <a:pt x="2520576" y="3714750"/>
                    <a:pt x="2457450" y="3714750"/>
                  </a:cubicBezTo>
                  <a:lnTo>
                    <a:pt x="114300" y="3714750"/>
                  </a:lnTo>
                  <a:cubicBezTo>
                    <a:pt x="51174" y="3714750"/>
                    <a:pt x="0" y="3663576"/>
                    <a:pt x="0" y="36004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5F3ED"/>
            </a:solidFill>
            <a:ln w="19050">
              <a:solidFill>
                <a:srgbClr val="2C2A25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981075" y="1695450"/>
              <a:ext cx="121274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A1814"/>
                  </a:solidFill>
                  <a:latin typeface="Arial"/>
                  <a:ea typeface="Microsoft YaHei"/>
                  <a:cs typeface="Arial"/>
                </a:rPr>
                <a:t>LightGBM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87742" y="1990249"/>
              <a:ext cx="20608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75" b="1" dirty="0">
                  <a:solidFill>
                    <a:srgbClr val="16A34A"/>
                  </a:solidFill>
                  <a:latin typeface="Arial"/>
                  <a:ea typeface="Microsoft YaHei"/>
                  <a:cs typeface="Arial"/>
                </a:rPr>
                <a:t>BASE · YA EN PRODUCCIÓN</a:t>
              </a:r>
            </a:p>
          </p:txBody>
        </p:sp>
        <p:grpSp>
          <p:nvGrpSpPr>
            <p:cNvPr id="16" name="Group 16"/>
            <p:cNvGrpSpPr/>
            <p:nvPr/>
          </p:nvGrpSpPr>
          <p:grpSpPr>
            <a:xfrm>
              <a:off x="986790" y="2315528"/>
              <a:ext cx="2330958" cy="2023110"/>
              <a:chOff x="986790" y="2315528"/>
              <a:chExt cx="2330958" cy="2023110"/>
            </a:xfrm>
          </p:grpSpPr>
          <p:sp>
            <p:nvSpPr>
              <p:cNvPr id="8" name="TextBox 8"/>
              <p:cNvSpPr txBox="1"/>
              <p:nvPr/>
            </p:nvSpPr>
            <p:spPr>
              <a:xfrm>
                <a:off x="986790" y="2315528"/>
                <a:ext cx="202492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4A4640"/>
                    </a:solidFill>
                    <a:latin typeface="Arial"/>
                    <a:ea typeface="Microsoft YaHei"/>
                    <a:cs typeface="Arial"/>
                  </a:rPr>
                  <a:t>CV AUC 0.7581 (5-fold)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986790" y="2601278"/>
                <a:ext cx="233095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4A4640"/>
                    </a:solidFill>
                    <a:latin typeface="Arial"/>
                    <a:ea typeface="Microsoft YaHei"/>
                    <a:cs typeface="Arial"/>
                  </a:rPr>
                  <a:t>Rápido en CPU, NaN nativo,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986790" y="2810828"/>
                <a:ext cx="216893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4A4640"/>
                    </a:solidFill>
                    <a:latin typeface="Arial"/>
                    <a:ea typeface="Microsoft YaHei"/>
                    <a:cs typeface="Arial"/>
                  </a:rPr>
                  <a:t>histógramas → ideal para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986790" y="3020378"/>
                <a:ext cx="152085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4A4640"/>
                    </a:solidFill>
                    <a:latin typeface="Arial"/>
                    <a:ea typeface="Microsoft YaHei"/>
                    <a:cs typeface="Arial"/>
                  </a:rPr>
                  <a:t>iterar features.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986790" y="3363278"/>
                <a:ext cx="229495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rgbClr val="1A1814"/>
                    </a:solidFill>
                    <a:latin typeface="Arial"/>
                    <a:ea typeface="Microsoft YaHei"/>
                    <a:cs typeface="Arial"/>
                  </a:rPr>
                  <a:t>Rol: baseline + candidato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986790" y="3572828"/>
                <a:ext cx="192635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rgbClr val="1A1814"/>
                    </a:solidFill>
                    <a:latin typeface="Arial"/>
                    <a:ea typeface="Microsoft YaHei"/>
                    <a:cs typeface="Arial"/>
                  </a:rPr>
                  <a:t>a ganador individual.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986790" y="3915728"/>
                <a:ext cx="163787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4A4640"/>
                    </a:solidFill>
                    <a:latin typeface="Arial"/>
                    <a:ea typeface="Microsoft YaHei"/>
                    <a:cs typeface="Arial"/>
                  </a:rPr>
                  <a:t>lr 0.03 · leaves 31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986790" y="4125278"/>
                <a:ext cx="162887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4A4640"/>
                    </a:solidFill>
                    <a:latin typeface="Arial"/>
                    <a:ea typeface="Microsoft YaHei"/>
                    <a:cs typeface="Arial"/>
                  </a:rPr>
                  <a:t>early stopping 200</a:t>
                </a:r>
              </a:p>
            </p:txBody>
          </p:sp>
        </p:grpSp>
        <p:sp>
          <p:nvSpPr>
            <p:cNvPr id="17" name="Freeform 17"/>
            <p:cNvSpPr/>
            <p:nvPr/>
          </p:nvSpPr>
          <p:spPr>
            <a:xfrm>
              <a:off x="3524250" y="1476375"/>
              <a:ext cx="2571750" cy="3714750"/>
            </a:xfrm>
            <a:custGeom>
              <a:avLst/>
              <a:gdLst/>
              <a:ahLst/>
              <a:cxnLst/>
              <a:rect l="l" t="t" r="r" b="b"/>
              <a:pathLst>
                <a:path w="2571750" h="3714750">
                  <a:moveTo>
                    <a:pt x="114300" y="0"/>
                  </a:moveTo>
                  <a:lnTo>
                    <a:pt x="2457450" y="0"/>
                  </a:lnTo>
                  <a:cubicBezTo>
                    <a:pt x="2520576" y="0"/>
                    <a:pt x="2571750" y="51174"/>
                    <a:pt x="2571750" y="114300"/>
                  </a:cubicBezTo>
                  <a:lnTo>
                    <a:pt x="2571750" y="3600450"/>
                  </a:lnTo>
                  <a:cubicBezTo>
                    <a:pt x="2571750" y="3663576"/>
                    <a:pt x="2520576" y="3714750"/>
                    <a:pt x="2457450" y="3714750"/>
                  </a:cubicBezTo>
                  <a:lnTo>
                    <a:pt x="114300" y="3714750"/>
                  </a:lnTo>
                  <a:cubicBezTo>
                    <a:pt x="51174" y="3714750"/>
                    <a:pt x="0" y="3663576"/>
                    <a:pt x="0" y="36004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5F3ED"/>
            </a:solidFill>
            <a:ln w="9525">
              <a:solidFill>
                <a:srgbClr val="DDD9D0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743325" y="1695450"/>
              <a:ext cx="107773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A1814"/>
                  </a:solidFill>
                  <a:latin typeface="Arial"/>
                  <a:ea typeface="Microsoft YaHei"/>
                  <a:cs typeface="Arial"/>
                </a:rPr>
                <a:t>XGBoost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749992" y="1990249"/>
              <a:ext cx="142894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75" b="1" dirty="0">
                  <a:solidFill>
                    <a:srgbClr val="6B665D"/>
                  </a:solidFill>
                  <a:latin typeface="Arial"/>
                  <a:ea typeface="Microsoft YaHei"/>
                  <a:cs typeface="Arial"/>
                </a:rPr>
                <a:t>DIVERSIFICADOR 1</a:t>
              </a:r>
            </a:p>
          </p:txBody>
        </p:sp>
        <p:grpSp>
          <p:nvGrpSpPr>
            <p:cNvPr id="27" name="Group 27"/>
            <p:cNvGrpSpPr/>
            <p:nvPr/>
          </p:nvGrpSpPr>
          <p:grpSpPr>
            <a:xfrm>
              <a:off x="3749040" y="2315528"/>
              <a:ext cx="2366962" cy="1813560"/>
              <a:chOff x="3749040" y="2315528"/>
              <a:chExt cx="2366962" cy="1813560"/>
            </a:xfrm>
          </p:grpSpPr>
          <p:sp>
            <p:nvSpPr>
              <p:cNvPr id="20" name="TextBox 20"/>
              <p:cNvSpPr txBox="1"/>
              <p:nvPr/>
            </p:nvSpPr>
            <p:spPr>
              <a:xfrm>
                <a:off x="3749040" y="2315528"/>
                <a:ext cx="209692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4A4640"/>
                    </a:solidFill>
                    <a:latin typeface="Arial"/>
                    <a:ea typeface="Microsoft YaHei"/>
                    <a:cs typeface="Arial"/>
                  </a:rPr>
                  <a:t>Mismo set de features.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3749040" y="2601278"/>
                <a:ext cx="218694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4A4640"/>
                    </a:solidFill>
                    <a:latin typeface="Arial"/>
                    <a:ea typeface="Microsoft YaHei"/>
                    <a:cs typeface="Arial"/>
                  </a:rPr>
                  <a:t>Regularización distinta →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3749040" y="2810828"/>
                <a:ext cx="236696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4A4640"/>
                    </a:solidFill>
                    <a:latin typeface="Arial"/>
                    <a:ea typeface="Microsoft YaHei"/>
                    <a:cs typeface="Arial"/>
                  </a:rPr>
                  <a:t>errores decorrelacionados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3749040" y="3020378"/>
                <a:ext cx="80976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4A4640"/>
                    </a:solidFill>
                    <a:latin typeface="Arial"/>
                    <a:ea typeface="Microsoft YaHei"/>
                    <a:cs typeface="Arial"/>
                  </a:rPr>
                  <a:t>de LGBM.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3749040" y="3363278"/>
                <a:ext cx="198306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rgbClr val="1A1814"/>
                    </a:solidFill>
                    <a:latin typeface="Arial"/>
                    <a:ea typeface="Microsoft YaHei"/>
                    <a:cs typeface="Arial"/>
                  </a:rPr>
                  <a:t>Rol: segundo pilar del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3749040" y="3572828"/>
                <a:ext cx="60319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rgbClr val="1A1814"/>
                    </a:solidFill>
                    <a:latin typeface="Arial"/>
                    <a:ea typeface="Microsoft YaHei"/>
                    <a:cs typeface="Arial"/>
                  </a:rPr>
                  <a:t>blend.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3749040" y="3915728"/>
                <a:ext cx="205192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4A4640"/>
                    </a:solidFill>
                    <a:latin typeface="Arial"/>
                    <a:ea typeface="Microsoft YaHei"/>
                    <a:cs typeface="Arial"/>
                  </a:rPr>
                  <a:t>Branch: model/xgboost</a:t>
                </a:r>
              </a:p>
            </p:txBody>
          </p:sp>
        </p:grpSp>
        <p:sp>
          <p:nvSpPr>
            <p:cNvPr id="28" name="Freeform 28"/>
            <p:cNvSpPr/>
            <p:nvPr/>
          </p:nvSpPr>
          <p:spPr>
            <a:xfrm>
              <a:off x="6286500" y="1476375"/>
              <a:ext cx="2571750" cy="3714750"/>
            </a:xfrm>
            <a:custGeom>
              <a:avLst/>
              <a:gdLst/>
              <a:ahLst/>
              <a:cxnLst/>
              <a:rect l="l" t="t" r="r" b="b"/>
              <a:pathLst>
                <a:path w="2571750" h="3714750">
                  <a:moveTo>
                    <a:pt x="114300" y="0"/>
                  </a:moveTo>
                  <a:lnTo>
                    <a:pt x="2457450" y="0"/>
                  </a:lnTo>
                  <a:cubicBezTo>
                    <a:pt x="2520576" y="0"/>
                    <a:pt x="2571750" y="51174"/>
                    <a:pt x="2571750" y="114300"/>
                  </a:cubicBezTo>
                  <a:lnTo>
                    <a:pt x="2571750" y="3600450"/>
                  </a:lnTo>
                  <a:cubicBezTo>
                    <a:pt x="2571750" y="3663576"/>
                    <a:pt x="2520576" y="3714750"/>
                    <a:pt x="2457450" y="3714750"/>
                  </a:cubicBezTo>
                  <a:lnTo>
                    <a:pt x="114300" y="3714750"/>
                  </a:lnTo>
                  <a:cubicBezTo>
                    <a:pt x="51174" y="3714750"/>
                    <a:pt x="0" y="3663576"/>
                    <a:pt x="0" y="36004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5F3ED"/>
            </a:solidFill>
            <a:ln w="9525">
              <a:solidFill>
                <a:srgbClr val="DDD9D0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505575" y="1695450"/>
              <a:ext cx="122624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A1814"/>
                  </a:solidFill>
                  <a:latin typeface="Arial"/>
                  <a:ea typeface="Microsoft YaHei"/>
                  <a:cs typeface="Arial"/>
                </a:rPr>
                <a:t>CatBoost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512242" y="1990249"/>
              <a:ext cx="142894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75" b="1" dirty="0">
                  <a:solidFill>
                    <a:srgbClr val="6B665D"/>
                  </a:solidFill>
                  <a:latin typeface="Arial"/>
                  <a:ea typeface="Microsoft YaHei"/>
                  <a:cs typeface="Arial"/>
                </a:rPr>
                <a:t>DIVERSIFICADOR 2</a:t>
              </a:r>
            </a:p>
          </p:txBody>
        </p:sp>
        <p:grpSp>
          <p:nvGrpSpPr>
            <p:cNvPr id="38" name="Group 38"/>
            <p:cNvGrpSpPr/>
            <p:nvPr/>
          </p:nvGrpSpPr>
          <p:grpSpPr>
            <a:xfrm>
              <a:off x="6511290" y="2315528"/>
              <a:ext cx="2627995" cy="1813560"/>
              <a:chOff x="6511290" y="2315528"/>
              <a:chExt cx="2627995" cy="1813560"/>
            </a:xfrm>
          </p:grpSpPr>
          <p:sp>
            <p:nvSpPr>
              <p:cNvPr id="31" name="TextBox 31"/>
              <p:cNvSpPr txBox="1"/>
              <p:nvPr/>
            </p:nvSpPr>
            <p:spPr>
              <a:xfrm>
                <a:off x="6511290" y="2315528"/>
                <a:ext cx="212393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4A4640"/>
                    </a:solidFill>
                    <a:latin typeface="Arial"/>
                    <a:ea typeface="Microsoft YaHei"/>
                    <a:cs typeface="Arial"/>
                  </a:rPr>
                  <a:t>Categóricas nativas con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6511290" y="2525078"/>
                <a:ext cx="232195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4A4640"/>
                    </a:solidFill>
                    <a:latin typeface="Arial"/>
                    <a:ea typeface="Microsoft YaHei"/>
                    <a:cs typeface="Arial"/>
                  </a:rPr>
                  <a:t>ordered target statistics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6511290" y="2734628"/>
                <a:ext cx="251998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4A4640"/>
                    </a:solidFill>
                    <a:latin typeface="Arial"/>
                    <a:ea typeface="Microsoft YaHei"/>
                    <a:cs typeface="Arial"/>
                  </a:rPr>
                  <a:t>(anti-leakage incorporado).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6511290" y="3020378"/>
                <a:ext cx="262799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4A4640"/>
                    </a:solidFill>
                    <a:latin typeface="Arial"/>
                    <a:ea typeface="Microsoft YaHei"/>
                    <a:cs typeface="Arial"/>
                  </a:rPr>
                  <a:t>Fuerte sin tunear en tabular.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6511290" y="3363278"/>
                <a:ext cx="244617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rgbClr val="1A1814"/>
                    </a:solidFill>
                    <a:latin typeface="Arial"/>
                    <a:ea typeface="Microsoft YaHei"/>
                    <a:cs typeface="Arial"/>
                  </a:rPr>
                  <a:t>Rol: tercer pilar; captura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6511290" y="3572828"/>
                <a:ext cx="222879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rgbClr val="1A1814"/>
                    </a:solidFill>
                    <a:latin typeface="Arial"/>
                    <a:ea typeface="Microsoft YaHei"/>
                    <a:cs typeface="Arial"/>
                  </a:rPr>
                  <a:t>las categóricas crudas.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6511290" y="3915728"/>
                <a:ext cx="215093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4A4640"/>
                    </a:solidFill>
                    <a:latin typeface="Arial"/>
                    <a:ea typeface="Microsoft YaHei"/>
                    <a:cs typeface="Arial"/>
                  </a:rPr>
                  <a:t>Branch: model/catboost</a:t>
                </a:r>
              </a:p>
            </p:txBody>
          </p:sp>
        </p:grpSp>
        <p:sp>
          <p:nvSpPr>
            <p:cNvPr id="39" name="Freeform 39"/>
            <p:cNvSpPr/>
            <p:nvPr/>
          </p:nvSpPr>
          <p:spPr>
            <a:xfrm>
              <a:off x="9048750" y="1476375"/>
              <a:ext cx="2381250" cy="3714750"/>
            </a:xfrm>
            <a:custGeom>
              <a:avLst/>
              <a:gdLst/>
              <a:ahLst/>
              <a:cxnLst/>
              <a:rect l="l" t="t" r="r" b="b"/>
              <a:pathLst>
                <a:path w="2381250" h="3714750">
                  <a:moveTo>
                    <a:pt x="114300" y="0"/>
                  </a:moveTo>
                  <a:lnTo>
                    <a:pt x="2266950" y="0"/>
                  </a:lnTo>
                  <a:cubicBezTo>
                    <a:pt x="2330076" y="0"/>
                    <a:pt x="2381250" y="51174"/>
                    <a:pt x="2381250" y="114300"/>
                  </a:cubicBezTo>
                  <a:lnTo>
                    <a:pt x="2381250" y="3600450"/>
                  </a:lnTo>
                  <a:cubicBezTo>
                    <a:pt x="2381250" y="3663576"/>
                    <a:pt x="2330076" y="3714750"/>
                    <a:pt x="2266950" y="3714750"/>
                  </a:cubicBezTo>
                  <a:lnTo>
                    <a:pt x="114300" y="3714750"/>
                  </a:lnTo>
                  <a:cubicBezTo>
                    <a:pt x="51174" y="3714750"/>
                    <a:pt x="0" y="3663576"/>
                    <a:pt x="0" y="36004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DFCF9"/>
            </a:solidFill>
            <a:ln w="9525">
              <a:solidFill>
                <a:srgbClr val="DDD9D0"/>
              </a:solidFill>
              <a:custDash>
                <a:ds d="600000" sp="400000"/>
              </a:custDash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267825" y="1695450"/>
              <a:ext cx="92921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A1814"/>
                  </a:solidFill>
                  <a:latin typeface="Arial"/>
                  <a:ea typeface="Microsoft YaHei"/>
                  <a:cs typeface="Arial"/>
                </a:rPr>
                <a:t>TabPFN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274492" y="1990249"/>
              <a:ext cx="16044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75" b="1" dirty="0">
                  <a:solidFill>
                    <a:srgbClr val="D97706"/>
                  </a:solidFill>
                  <a:latin typeface="Arial"/>
                  <a:ea typeface="Microsoft YaHei"/>
                  <a:cs typeface="Arial"/>
                </a:rPr>
                <a:t>EXPERIMENTAL · M4</a:t>
              </a:r>
            </a:p>
          </p:txBody>
        </p:sp>
        <p:grpSp>
          <p:nvGrpSpPr>
            <p:cNvPr id="50" name="Group 50"/>
            <p:cNvGrpSpPr/>
            <p:nvPr/>
          </p:nvGrpSpPr>
          <p:grpSpPr>
            <a:xfrm>
              <a:off x="9273540" y="2315528"/>
              <a:ext cx="2380014" cy="1946910"/>
              <a:chOff x="9273540" y="2315528"/>
              <a:chExt cx="2380014" cy="1946910"/>
            </a:xfrm>
          </p:grpSpPr>
          <p:sp>
            <p:nvSpPr>
              <p:cNvPr id="42" name="TextBox 42"/>
              <p:cNvSpPr txBox="1"/>
              <p:nvPr/>
            </p:nvSpPr>
            <p:spPr>
              <a:xfrm>
                <a:off x="9273540" y="2315528"/>
                <a:ext cx="221394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4A4640"/>
                    </a:solidFill>
                    <a:latin typeface="Arial"/>
                    <a:ea typeface="Microsoft YaHei"/>
                    <a:cs typeface="Arial"/>
                  </a:rPr>
                  <a:t>Foundation model tabular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9273540" y="2525078"/>
                <a:ext cx="211493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4A4640"/>
                    </a:solidFill>
                    <a:latin typeface="Arial"/>
                    <a:ea typeface="Microsoft YaHei"/>
                    <a:cs typeface="Arial"/>
                  </a:rPr>
                  <a:t>(Nature 2025). Aprende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9273540" y="2734628"/>
                <a:ext cx="198891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4A4640"/>
                    </a:solidFill>
                    <a:latin typeface="Arial"/>
                    <a:ea typeface="Microsoft YaHei"/>
                    <a:cs typeface="Arial"/>
                  </a:rPr>
                  <a:t>distinto a los árboles: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9273540" y="2944178"/>
                <a:ext cx="143084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4A4640"/>
                    </a:solidFill>
                    <a:latin typeface="Arial"/>
                    <a:ea typeface="Microsoft YaHei"/>
                    <a:cs typeface="Arial"/>
                  </a:rPr>
                  <a:t>diversidad real.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9273540" y="3287078"/>
                <a:ext cx="179404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rgbClr val="1A1814"/>
                    </a:solidFill>
                    <a:latin typeface="Arial"/>
                    <a:ea typeface="Microsoft YaHei"/>
                    <a:cs typeface="Arial"/>
                  </a:rPr>
                  <a:t>Rol: 4º miembro del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9273540" y="3496628"/>
                <a:ext cx="238001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rgbClr val="1A1814"/>
                    </a:solidFill>
                    <a:latin typeface="Arial"/>
                    <a:ea typeface="Microsoft YaHei"/>
                    <a:cs typeface="Arial"/>
                  </a:rPr>
                  <a:t>ensemble si corre en CPU.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9273540" y="3839528"/>
                <a:ext cx="197091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4A4640"/>
                    </a:solidFill>
                    <a:latin typeface="Arial"/>
                    <a:ea typeface="Microsoft YaHei"/>
                    <a:cs typeface="Arial"/>
                  </a:rPr>
                  <a:t>Solo se adopta si suma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9273540" y="4049078"/>
                <a:ext cx="188090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4A4640"/>
                    </a:solidFill>
                    <a:latin typeface="Arial"/>
                    <a:ea typeface="Microsoft YaHei"/>
                    <a:cs typeface="Arial"/>
                  </a:rPr>
                  <a:t>≥0.002 RSKF al blend.</a:t>
                </a:r>
              </a:p>
            </p:txBody>
          </p:sp>
        </p:grpSp>
      </p:grpSp>
      <p:sp>
        <p:nvSpPr>
          <p:cNvPr id="52" name="Freeform 52"/>
          <p:cNvSpPr/>
          <p:nvPr/>
        </p:nvSpPr>
        <p:spPr>
          <a:xfrm>
            <a:off x="762000" y="5476875"/>
            <a:ext cx="10668000" cy="857250"/>
          </a:xfrm>
          <a:custGeom>
            <a:avLst/>
            <a:gdLst/>
            <a:ahLst/>
            <a:cxnLst/>
            <a:rect l="l" t="t" r="r" b="b"/>
            <a:pathLst>
              <a:path w="10668000" h="857250">
                <a:moveTo>
                  <a:pt x="95250" y="0"/>
                </a:moveTo>
                <a:lnTo>
                  <a:pt x="10572750" y="0"/>
                </a:lnTo>
                <a:cubicBezTo>
                  <a:pt x="10625355" y="0"/>
                  <a:pt x="10668000" y="42645"/>
                  <a:pt x="10668000" y="95250"/>
                </a:cubicBezTo>
                <a:lnTo>
                  <a:pt x="10668000" y="762000"/>
                </a:lnTo>
                <a:cubicBezTo>
                  <a:pt x="10668000" y="814605"/>
                  <a:pt x="10625355" y="857250"/>
                  <a:pt x="10572750" y="857250"/>
                </a:cubicBezTo>
                <a:lnTo>
                  <a:pt x="95250" y="857250"/>
                </a:lnTo>
                <a:cubicBezTo>
                  <a:pt x="42645" y="857250"/>
                  <a:pt x="0" y="814605"/>
                  <a:pt x="0" y="762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3ED"/>
          </a:solidFill>
          <a:ln w="9525">
            <a:solidFill>
              <a:srgbClr val="DDD9D0"/>
            </a:solidFill>
          </a:ln>
        </p:spPr>
      </p:sp>
      <p:sp>
        <p:nvSpPr>
          <p:cNvPr id="53" name="TextBox 53"/>
          <p:cNvSpPr txBox="1"/>
          <p:nvPr/>
        </p:nvSpPr>
        <p:spPr>
          <a:xfrm>
            <a:off x="1031558" y="5691664"/>
            <a:ext cx="928129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75" dirty="0">
                <a:solidFill>
                  <a:srgbClr val="4A4640"/>
                </a:solidFill>
                <a:latin typeface="Arial"/>
                <a:ea typeface="Microsoft YaHei"/>
                <a:cs typeface="Arial"/>
              </a:rPr>
              <a:t>Estrategia:</a:t>
            </a:r>
            <a:r>
              <a:rPr lang="en-US" sz="1275" b="1" dirty="0">
                <a:solidFill>
                  <a:srgbClr val="1A1814"/>
                </a:solidFill>
                <a:latin typeface="Arial"/>
                <a:ea typeface="Microsoft YaHei"/>
                <a:cs typeface="Arial"/>
              </a:rPr>
              <a:t>un branch por modelo</a:t>
            </a:r>
            <a:r>
              <a:rPr lang="en-US" sz="1275" dirty="0">
                <a:solidFill>
                  <a:srgbClr val="4A4640"/>
                </a:solidFill>
                <a:latin typeface="Arial"/>
                <a:ea typeface="Microsoft YaHei"/>
                <a:cs typeface="Arial"/>
              </a:rPr>
              <a:t>, cada modelo guardado con sus OOF, params y seed.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031558" y="5977414"/>
            <a:ext cx="1003327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75" dirty="0">
                <a:solidFill>
                  <a:srgbClr val="4A4640"/>
                </a:solidFill>
                <a:latin typeface="Arial"/>
                <a:ea typeface="Microsoft YaHei"/>
                <a:cs typeface="Arial"/>
              </a:rPr>
              <a:t>Se adopta a main solo si mejora el CV en el umbral acordado (+0.003 features, +0.002 tuning).</a:t>
            </a:r>
          </a:p>
        </p:txBody>
      </p:sp>
    </p:spTree>
  </p:cSld>
  <p:clrMapOvr>
    <a:masterClrMapping/>
  </p:clrMapOvr>
  <p:transition 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CF9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48665" y="553402"/>
            <a:ext cx="396273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spc="300" dirty="0">
                <a:solidFill>
                  <a:srgbClr val="6B665D"/>
                </a:solidFill>
                <a:latin typeface="Arial"/>
                <a:ea typeface="Microsoft YaHei"/>
                <a:cs typeface="Arial"/>
              </a:rPr>
              <a:t>09 · ARQUITECTURA DEL ENSEMBLE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23900" y="819150"/>
            <a:ext cx="779145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000" dirty="0">
                <a:solidFill>
                  <a:srgbClr val="1A1814"/>
                </a:solidFill>
                <a:latin typeface="Georgia"/>
                <a:ea typeface="SimSun"/>
                <a:cs typeface="Georgia"/>
              </a:rPr>
              <a:t>De 3 modelos a una probabilidad</a:t>
            </a:r>
          </a:p>
        </p:txBody>
      </p:sp>
      <p:grpSp>
        <p:nvGrpSpPr>
          <p:cNvPr id="43" name="Group 43"/>
          <p:cNvGrpSpPr/>
          <p:nvPr/>
        </p:nvGrpSpPr>
        <p:grpSpPr>
          <a:xfrm>
            <a:off x="762000" y="1714500"/>
            <a:ext cx="11277600" cy="4810125"/>
            <a:chOff x="762000" y="1714500"/>
            <a:chExt cx="11277600" cy="4810125"/>
          </a:xfrm>
        </p:grpSpPr>
        <p:sp>
          <p:nvSpPr>
            <p:cNvPr id="5" name="Freeform 5"/>
            <p:cNvSpPr/>
            <p:nvPr/>
          </p:nvSpPr>
          <p:spPr>
            <a:xfrm>
              <a:off x="762000" y="1714500"/>
              <a:ext cx="2286000" cy="762000"/>
            </a:xfrm>
            <a:custGeom>
              <a:avLst/>
              <a:gdLst/>
              <a:ahLst/>
              <a:cxnLst/>
              <a:rect l="l" t="t" r="r" b="b"/>
              <a:pathLst>
                <a:path w="2286000" h="762000">
                  <a:moveTo>
                    <a:pt x="95250" y="0"/>
                  </a:moveTo>
                  <a:lnTo>
                    <a:pt x="2190750" y="0"/>
                  </a:lnTo>
                  <a:cubicBezTo>
                    <a:pt x="2243355" y="0"/>
                    <a:pt x="2286000" y="42645"/>
                    <a:pt x="2286000" y="95250"/>
                  </a:cubicBezTo>
                  <a:lnTo>
                    <a:pt x="2286000" y="666750"/>
                  </a:lnTo>
                  <a:cubicBezTo>
                    <a:pt x="2286000" y="719355"/>
                    <a:pt x="2243355" y="762000"/>
                    <a:pt x="2190750" y="762000"/>
                  </a:cubicBezTo>
                  <a:lnTo>
                    <a:pt x="95250" y="762000"/>
                  </a:lnTo>
                  <a:cubicBezTo>
                    <a:pt x="42645" y="762000"/>
                    <a:pt x="0" y="719355"/>
                    <a:pt x="0" y="6667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5F3ED"/>
            </a:solidFill>
            <a:ln w="9525">
              <a:solidFill>
                <a:srgbClr val="DDD9D0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389583" y="1910239"/>
              <a:ext cx="103083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75" b="1" dirty="0">
                  <a:solidFill>
                    <a:srgbClr val="1A1814"/>
                  </a:solidFill>
                  <a:latin typeface="Arial"/>
                  <a:ea typeface="Microsoft YaHei"/>
                  <a:cs typeface="Arial"/>
                </a:rPr>
                <a:t>LightGBM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94411" y="2180749"/>
              <a:ext cx="16211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75" dirty="0">
                  <a:solidFill>
                    <a:srgbClr val="6B665D"/>
                  </a:solidFill>
                  <a:latin typeface="Arial"/>
                  <a:ea typeface="Microsoft YaHei"/>
                  <a:cs typeface="Arial"/>
                </a:rPr>
                <a:t>OOF preds (5-fold)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762000" y="2762250"/>
              <a:ext cx="2286000" cy="762000"/>
            </a:xfrm>
            <a:custGeom>
              <a:avLst/>
              <a:gdLst/>
              <a:ahLst/>
              <a:cxnLst/>
              <a:rect l="l" t="t" r="r" b="b"/>
              <a:pathLst>
                <a:path w="2286000" h="762000">
                  <a:moveTo>
                    <a:pt x="95250" y="0"/>
                  </a:moveTo>
                  <a:lnTo>
                    <a:pt x="2190750" y="0"/>
                  </a:lnTo>
                  <a:cubicBezTo>
                    <a:pt x="2243355" y="0"/>
                    <a:pt x="2286000" y="42645"/>
                    <a:pt x="2286000" y="95250"/>
                  </a:cubicBezTo>
                  <a:lnTo>
                    <a:pt x="2286000" y="666750"/>
                  </a:lnTo>
                  <a:cubicBezTo>
                    <a:pt x="2286000" y="719355"/>
                    <a:pt x="2243355" y="762000"/>
                    <a:pt x="2190750" y="762000"/>
                  </a:cubicBezTo>
                  <a:lnTo>
                    <a:pt x="95250" y="762000"/>
                  </a:lnTo>
                  <a:cubicBezTo>
                    <a:pt x="42645" y="762000"/>
                    <a:pt x="0" y="719355"/>
                    <a:pt x="0" y="6667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5F3ED"/>
            </a:solidFill>
            <a:ln w="9525">
              <a:solidFill>
                <a:srgbClr val="DDD9D0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446965" y="2957989"/>
              <a:ext cx="91607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75" b="1" dirty="0">
                  <a:solidFill>
                    <a:srgbClr val="1A1814"/>
                  </a:solidFill>
                  <a:latin typeface="Arial"/>
                  <a:ea typeface="Microsoft YaHei"/>
                  <a:cs typeface="Arial"/>
                </a:rPr>
                <a:t>XGBoost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94411" y="3228499"/>
              <a:ext cx="16211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75" dirty="0">
                  <a:solidFill>
                    <a:srgbClr val="6B665D"/>
                  </a:solidFill>
                  <a:latin typeface="Arial"/>
                  <a:ea typeface="Microsoft YaHei"/>
                  <a:cs typeface="Arial"/>
                </a:rPr>
                <a:t>OOF preds (5-fold)</a:t>
              </a:r>
            </a:p>
          </p:txBody>
        </p:sp>
        <p:sp>
          <p:nvSpPr>
            <p:cNvPr id="11" name="Freeform 11"/>
            <p:cNvSpPr/>
            <p:nvPr/>
          </p:nvSpPr>
          <p:spPr>
            <a:xfrm>
              <a:off x="762000" y="3810000"/>
              <a:ext cx="2286000" cy="762000"/>
            </a:xfrm>
            <a:custGeom>
              <a:avLst/>
              <a:gdLst/>
              <a:ahLst/>
              <a:cxnLst/>
              <a:rect l="l" t="t" r="r" b="b"/>
              <a:pathLst>
                <a:path w="2286000" h="762000">
                  <a:moveTo>
                    <a:pt x="95250" y="0"/>
                  </a:moveTo>
                  <a:lnTo>
                    <a:pt x="2190750" y="0"/>
                  </a:lnTo>
                  <a:cubicBezTo>
                    <a:pt x="2243355" y="0"/>
                    <a:pt x="2286000" y="42645"/>
                    <a:pt x="2286000" y="95250"/>
                  </a:cubicBezTo>
                  <a:lnTo>
                    <a:pt x="2286000" y="666750"/>
                  </a:lnTo>
                  <a:cubicBezTo>
                    <a:pt x="2286000" y="719355"/>
                    <a:pt x="2243355" y="762000"/>
                    <a:pt x="2190750" y="762000"/>
                  </a:cubicBezTo>
                  <a:lnTo>
                    <a:pt x="95250" y="762000"/>
                  </a:lnTo>
                  <a:cubicBezTo>
                    <a:pt x="42645" y="762000"/>
                    <a:pt x="0" y="719355"/>
                    <a:pt x="0" y="6667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5F3ED"/>
            </a:solidFill>
            <a:ln w="9525">
              <a:solidFill>
                <a:srgbClr val="DDD9D0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383844" y="4005739"/>
              <a:ext cx="104231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75" b="1" dirty="0">
                  <a:solidFill>
                    <a:srgbClr val="1A1814"/>
                  </a:solidFill>
                  <a:latin typeface="Arial"/>
                  <a:ea typeface="Microsoft YaHei"/>
                  <a:cs typeface="Arial"/>
                </a:rPr>
                <a:t>CatBoost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94411" y="4276249"/>
              <a:ext cx="16211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75" dirty="0">
                  <a:solidFill>
                    <a:srgbClr val="6B665D"/>
                  </a:solidFill>
                  <a:latin typeface="Arial"/>
                  <a:ea typeface="Microsoft YaHei"/>
                  <a:cs typeface="Arial"/>
                </a:rPr>
                <a:t>OOF preds (5-fold)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762000" y="4857750"/>
              <a:ext cx="2286000" cy="762000"/>
            </a:xfrm>
            <a:custGeom>
              <a:avLst/>
              <a:gdLst/>
              <a:ahLst/>
              <a:cxnLst/>
              <a:rect l="l" t="t" r="r" b="b"/>
              <a:pathLst>
                <a:path w="2286000" h="762000">
                  <a:moveTo>
                    <a:pt x="95250" y="0"/>
                  </a:moveTo>
                  <a:lnTo>
                    <a:pt x="2190750" y="0"/>
                  </a:lnTo>
                  <a:cubicBezTo>
                    <a:pt x="2243355" y="0"/>
                    <a:pt x="2286000" y="42645"/>
                    <a:pt x="2286000" y="95250"/>
                  </a:cubicBezTo>
                  <a:lnTo>
                    <a:pt x="2286000" y="666750"/>
                  </a:lnTo>
                  <a:cubicBezTo>
                    <a:pt x="2286000" y="719355"/>
                    <a:pt x="2243355" y="762000"/>
                    <a:pt x="2190750" y="762000"/>
                  </a:cubicBezTo>
                  <a:lnTo>
                    <a:pt x="95250" y="762000"/>
                  </a:lnTo>
                  <a:cubicBezTo>
                    <a:pt x="42645" y="762000"/>
                    <a:pt x="0" y="719355"/>
                    <a:pt x="0" y="6667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DFCF9"/>
            </a:solidFill>
            <a:ln w="9525">
              <a:solidFill>
                <a:srgbClr val="DDD9D0"/>
              </a:solidFill>
              <a:custDash>
                <a:ds d="600000" sp="400000"/>
              </a:custDash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096934" y="5053489"/>
              <a:ext cx="161613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75" b="1" dirty="0">
                  <a:solidFill>
                    <a:srgbClr val="1A1814"/>
                  </a:solidFill>
                  <a:latin typeface="Arial"/>
                  <a:ea typeface="Microsoft YaHei"/>
                  <a:cs typeface="Arial"/>
                </a:rPr>
                <a:t>TabPFN (opc.)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06948" y="5323999"/>
              <a:ext cx="15961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75" dirty="0">
                  <a:solidFill>
                    <a:srgbClr val="6B665D"/>
                  </a:solidFill>
                  <a:latin typeface="Arial"/>
                  <a:ea typeface="Microsoft YaHei"/>
                  <a:cs typeface="Arial"/>
                </a:rPr>
                <a:t>solo si suma ≥0.002</a:t>
              </a:r>
            </a:p>
          </p:txBody>
        </p:sp>
        <p:grpSp>
          <p:nvGrpSpPr>
            <p:cNvPr id="21" name="Group 21"/>
            <p:cNvGrpSpPr/>
            <p:nvPr/>
          </p:nvGrpSpPr>
          <p:grpSpPr>
            <a:xfrm>
              <a:off x="3048000" y="2095500"/>
              <a:ext cx="1143000" cy="3143250"/>
              <a:chOff x="3048000" y="2095500"/>
              <a:chExt cx="1143000" cy="314325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3048000" y="2095500"/>
                <a:ext cx="1143000" cy="762000"/>
              </a:xfrm>
              <a:custGeom>
                <a:avLst/>
                <a:gdLst/>
                <a:ahLst/>
                <a:cxnLst/>
                <a:rect l="l" t="t" r="r" b="b"/>
                <a:pathLst>
                  <a:path w="1143000" h="762000">
                    <a:moveTo>
                      <a:pt x="0" y="0"/>
                    </a:moveTo>
                    <a:lnTo>
                      <a:pt x="762000" y="0"/>
                    </a:lnTo>
                    <a:lnTo>
                      <a:pt x="762000" y="762000"/>
                    </a:lnTo>
                    <a:lnTo>
                      <a:pt x="1143000" y="762000"/>
                    </a:lnTo>
                  </a:path>
                </a:pathLst>
              </a:custGeom>
              <a:noFill/>
              <a:ln w="19050">
                <a:solidFill>
                  <a:srgbClr val="2C2A25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3048000" y="3143250"/>
                <a:ext cx="1143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0" h="9525">
                    <a:moveTo>
                      <a:pt x="0" y="0"/>
                    </a:moveTo>
                    <a:lnTo>
                      <a:pt x="1143000" y="0"/>
                    </a:lnTo>
                  </a:path>
                </a:pathLst>
              </a:custGeom>
              <a:noFill/>
              <a:ln w="19050">
                <a:solidFill>
                  <a:srgbClr val="2C2A25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3048000" y="3429000"/>
                <a:ext cx="1143000" cy="762000"/>
              </a:xfrm>
              <a:custGeom>
                <a:avLst/>
                <a:gdLst/>
                <a:ahLst/>
                <a:cxnLst/>
                <a:rect l="l" t="t" r="r" b="b"/>
                <a:pathLst>
                  <a:path w="1143000" h="762000">
                    <a:moveTo>
                      <a:pt x="0" y="762000"/>
                    </a:moveTo>
                    <a:lnTo>
                      <a:pt x="762000" y="762000"/>
                    </a:lnTo>
                    <a:lnTo>
                      <a:pt x="762000" y="0"/>
                    </a:lnTo>
                    <a:lnTo>
                      <a:pt x="1143000" y="0"/>
                    </a:lnTo>
                  </a:path>
                </a:pathLst>
              </a:custGeom>
              <a:noFill/>
              <a:ln w="19050">
                <a:solidFill>
                  <a:srgbClr val="2C2A25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3048000" y="3810000"/>
                <a:ext cx="1143000" cy="1428750"/>
              </a:xfrm>
              <a:custGeom>
                <a:avLst/>
                <a:gdLst/>
                <a:ahLst/>
                <a:cxnLst/>
                <a:rect l="l" t="t" r="r" b="b"/>
                <a:pathLst>
                  <a:path w="1143000" h="1428750">
                    <a:moveTo>
                      <a:pt x="0" y="1428750"/>
                    </a:moveTo>
                    <a:lnTo>
                      <a:pt x="762000" y="1428750"/>
                    </a:lnTo>
                    <a:lnTo>
                      <a:pt x="762000" y="0"/>
                    </a:lnTo>
                    <a:lnTo>
                      <a:pt x="1143000" y="0"/>
                    </a:lnTo>
                  </a:path>
                </a:pathLst>
              </a:custGeom>
              <a:noFill/>
              <a:ln w="19050">
                <a:solidFill>
                  <a:srgbClr val="2C2A25"/>
                </a:solidFill>
                <a:custDash>
                  <a:ds d="300000" sp="200000"/>
                </a:custDash>
              </a:ln>
            </p:spPr>
          </p:sp>
        </p:grpSp>
        <p:sp>
          <p:nvSpPr>
            <p:cNvPr id="22" name="Freeform 22"/>
            <p:cNvSpPr/>
            <p:nvPr/>
          </p:nvSpPr>
          <p:spPr>
            <a:xfrm>
              <a:off x="4191000" y="2571750"/>
              <a:ext cx="2476500" cy="1238250"/>
            </a:xfrm>
            <a:custGeom>
              <a:avLst/>
              <a:gdLst/>
              <a:ahLst/>
              <a:cxnLst/>
              <a:rect l="l" t="t" r="r" b="b"/>
              <a:pathLst>
                <a:path w="2476500" h="1238250">
                  <a:moveTo>
                    <a:pt x="95250" y="0"/>
                  </a:moveTo>
                  <a:lnTo>
                    <a:pt x="2381250" y="0"/>
                  </a:lnTo>
                  <a:cubicBezTo>
                    <a:pt x="2433855" y="0"/>
                    <a:pt x="2476500" y="42645"/>
                    <a:pt x="2476500" y="95250"/>
                  </a:cubicBezTo>
                  <a:lnTo>
                    <a:pt x="2476500" y="1143000"/>
                  </a:lnTo>
                  <a:cubicBezTo>
                    <a:pt x="2476500" y="1195605"/>
                    <a:pt x="2433855" y="1238250"/>
                    <a:pt x="2381250" y="1238250"/>
                  </a:cubicBezTo>
                  <a:lnTo>
                    <a:pt x="95250" y="1238250"/>
                  </a:lnTo>
                  <a:cubicBezTo>
                    <a:pt x="42645" y="1238250"/>
                    <a:pt x="0" y="1195605"/>
                    <a:pt x="0" y="11430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2C2A25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035885" y="2815114"/>
              <a:ext cx="278672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75" b="1" dirty="0">
                  <a:solidFill>
                    <a:srgbClr val="F5F3ED"/>
                  </a:solidFill>
                  <a:latin typeface="Arial"/>
                  <a:ea typeface="Microsoft YaHei"/>
                  <a:cs typeface="Arial"/>
                </a:rPr>
                <a:t>Nivel 1 · Blend ponderado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230005" y="3114199"/>
              <a:ext cx="239849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75" dirty="0">
                  <a:solidFill>
                    <a:srgbClr val="C5C0B6"/>
                  </a:solidFill>
                  <a:latin typeface="Arial"/>
                  <a:ea typeface="Microsoft YaHei"/>
                  <a:cs typeface="Arial"/>
                </a:rPr>
                <a:t>pesos optimizados sobre OOF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581049" y="3342799"/>
              <a:ext cx="169640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75" dirty="0">
                  <a:solidFill>
                    <a:srgbClr val="C5C0B6"/>
                  </a:solidFill>
                  <a:latin typeface="Arial"/>
                  <a:ea typeface="Microsoft YaHei"/>
                  <a:cs typeface="Arial"/>
                </a:rPr>
                <a:t>(grid 0–1, paso 0.1)</a:t>
              </a:r>
            </a:p>
          </p:txBody>
        </p:sp>
        <p:sp>
          <p:nvSpPr>
            <p:cNvPr id="26" name="Freeform 26"/>
            <p:cNvSpPr/>
            <p:nvPr/>
          </p:nvSpPr>
          <p:spPr>
            <a:xfrm>
              <a:off x="4191000" y="4191000"/>
              <a:ext cx="2476500" cy="1047750"/>
            </a:xfrm>
            <a:custGeom>
              <a:avLst/>
              <a:gdLst/>
              <a:ahLst/>
              <a:cxnLst/>
              <a:rect l="l" t="t" r="r" b="b"/>
              <a:pathLst>
                <a:path w="2476500" h="1047750">
                  <a:moveTo>
                    <a:pt x="95250" y="0"/>
                  </a:moveTo>
                  <a:lnTo>
                    <a:pt x="2381250" y="0"/>
                  </a:lnTo>
                  <a:cubicBezTo>
                    <a:pt x="2433855" y="0"/>
                    <a:pt x="2476500" y="42645"/>
                    <a:pt x="2476500" y="95250"/>
                  </a:cubicBezTo>
                  <a:lnTo>
                    <a:pt x="2476500" y="952500"/>
                  </a:lnTo>
                  <a:cubicBezTo>
                    <a:pt x="2476500" y="1005105"/>
                    <a:pt x="2433855" y="1047750"/>
                    <a:pt x="2381250" y="1047750"/>
                  </a:cubicBezTo>
                  <a:lnTo>
                    <a:pt x="95250" y="1047750"/>
                  </a:lnTo>
                  <a:cubicBezTo>
                    <a:pt x="42645" y="1047750"/>
                    <a:pt x="0" y="1005105"/>
                    <a:pt x="0" y="9525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5F3ED"/>
            </a:solidFill>
            <a:ln w="9525">
              <a:solidFill>
                <a:srgbClr val="DDD9D0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139173" y="4415314"/>
              <a:ext cx="258015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75" b="1" dirty="0">
                  <a:solidFill>
                    <a:srgbClr val="1A1814"/>
                  </a:solidFill>
                  <a:latin typeface="Arial"/>
                  <a:ea typeface="Microsoft YaHei"/>
                  <a:cs typeface="Arial"/>
                </a:rPr>
                <a:t>Nivel 2 · Stacking (M4)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397169" y="4695349"/>
              <a:ext cx="206416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75" dirty="0">
                  <a:solidFill>
                    <a:srgbClr val="6B665D"/>
                  </a:solidFill>
                  <a:latin typeface="Arial"/>
                  <a:ea typeface="Microsoft YaHei"/>
                  <a:cs typeface="Arial"/>
                </a:rPr>
                <a:t>LogisticRegression sobre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238363" y="4904899"/>
              <a:ext cx="238177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75" dirty="0">
                  <a:solidFill>
                    <a:srgbClr val="6B665D"/>
                  </a:solidFill>
                  <a:latin typeface="Arial"/>
                  <a:ea typeface="Microsoft YaHei"/>
                  <a:cs typeface="Arial"/>
                </a:rPr>
                <a:t>los OOF como meta-features</a:t>
              </a:r>
            </a:p>
          </p:txBody>
        </p:sp>
        <p:grpSp>
          <p:nvGrpSpPr>
            <p:cNvPr id="32" name="Group 32"/>
            <p:cNvGrpSpPr/>
            <p:nvPr/>
          </p:nvGrpSpPr>
          <p:grpSpPr>
            <a:xfrm>
              <a:off x="6667500" y="3190875"/>
              <a:ext cx="1143000" cy="1524000"/>
              <a:chOff x="6667500" y="3190875"/>
              <a:chExt cx="1143000" cy="152400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6667500" y="3190875"/>
                <a:ext cx="1143000" cy="428625"/>
              </a:xfrm>
              <a:custGeom>
                <a:avLst/>
                <a:gdLst/>
                <a:ahLst/>
                <a:cxnLst/>
                <a:rect l="l" t="t" r="r" b="b"/>
                <a:pathLst>
                  <a:path w="1143000" h="428625">
                    <a:moveTo>
                      <a:pt x="0" y="0"/>
                    </a:moveTo>
                    <a:lnTo>
                      <a:pt x="762000" y="0"/>
                    </a:lnTo>
                    <a:lnTo>
                      <a:pt x="762000" y="428625"/>
                    </a:lnTo>
                    <a:lnTo>
                      <a:pt x="1143000" y="428625"/>
                    </a:lnTo>
                  </a:path>
                </a:pathLst>
              </a:custGeom>
              <a:noFill/>
              <a:ln w="19050">
                <a:solidFill>
                  <a:srgbClr val="2C2A25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6667500" y="4000500"/>
                <a:ext cx="1143000" cy="714375"/>
              </a:xfrm>
              <a:custGeom>
                <a:avLst/>
                <a:gdLst/>
                <a:ahLst/>
                <a:cxnLst/>
                <a:rect l="l" t="t" r="r" b="b"/>
                <a:pathLst>
                  <a:path w="1143000" h="714375">
                    <a:moveTo>
                      <a:pt x="0" y="714375"/>
                    </a:moveTo>
                    <a:lnTo>
                      <a:pt x="762000" y="714375"/>
                    </a:lnTo>
                    <a:lnTo>
                      <a:pt x="762000" y="0"/>
                    </a:lnTo>
                    <a:lnTo>
                      <a:pt x="1143000" y="0"/>
                    </a:lnTo>
                  </a:path>
                </a:pathLst>
              </a:custGeom>
              <a:noFill/>
              <a:ln w="19050">
                <a:solidFill>
                  <a:srgbClr val="2C2A25"/>
                </a:solidFill>
                <a:custDash>
                  <a:ds d="300000" sp="200000"/>
                </a:custDash>
              </a:ln>
            </p:spPr>
          </p:sp>
        </p:grpSp>
        <p:sp>
          <p:nvSpPr>
            <p:cNvPr id="33" name="Freeform 33"/>
            <p:cNvSpPr/>
            <p:nvPr/>
          </p:nvSpPr>
          <p:spPr>
            <a:xfrm>
              <a:off x="7810500" y="3143250"/>
              <a:ext cx="2190750" cy="1047750"/>
            </a:xfrm>
            <a:custGeom>
              <a:avLst/>
              <a:gdLst/>
              <a:ahLst/>
              <a:cxnLst/>
              <a:rect l="l" t="t" r="r" b="b"/>
              <a:pathLst>
                <a:path w="2190750" h="1047750">
                  <a:moveTo>
                    <a:pt x="95250" y="0"/>
                  </a:moveTo>
                  <a:lnTo>
                    <a:pt x="2095500" y="0"/>
                  </a:lnTo>
                  <a:cubicBezTo>
                    <a:pt x="2148105" y="0"/>
                    <a:pt x="2190750" y="42645"/>
                    <a:pt x="2190750" y="95250"/>
                  </a:cubicBezTo>
                  <a:lnTo>
                    <a:pt x="2190750" y="952500"/>
                  </a:lnTo>
                  <a:cubicBezTo>
                    <a:pt x="2190750" y="1005105"/>
                    <a:pt x="2148105" y="1047750"/>
                    <a:pt x="2095500" y="1047750"/>
                  </a:cubicBezTo>
                  <a:lnTo>
                    <a:pt x="95250" y="1047750"/>
                  </a:lnTo>
                  <a:cubicBezTo>
                    <a:pt x="42645" y="1047750"/>
                    <a:pt x="0" y="1005105"/>
                    <a:pt x="0" y="9525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5F3ED"/>
            </a:solidFill>
            <a:ln w="9525">
              <a:solidFill>
                <a:srgbClr val="DDD9D0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925662" y="3367564"/>
              <a:ext cx="196042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75" b="1" dirty="0">
                  <a:solidFill>
                    <a:srgbClr val="1A1814"/>
                  </a:solidFill>
                  <a:latin typeface="Arial"/>
                  <a:ea typeface="Microsoft YaHei"/>
                  <a:cs typeface="Arial"/>
                </a:rPr>
                <a:t>Probabilidad final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940659" y="3647599"/>
              <a:ext cx="193043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75" dirty="0">
                  <a:solidFill>
                    <a:srgbClr val="6B665D"/>
                  </a:solidFill>
                  <a:latin typeface="Arial"/>
                  <a:ea typeface="Microsoft YaHei"/>
                  <a:cs typeface="Arial"/>
                </a:rPr>
                <a:t>selección por RSKF 3×5,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124539" y="3857149"/>
              <a:ext cx="156267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75" dirty="0">
                  <a:solidFill>
                    <a:srgbClr val="6B665D"/>
                  </a:solidFill>
                  <a:latin typeface="Arial"/>
                  <a:ea typeface="Microsoft YaHei"/>
                  <a:cs typeface="Arial"/>
                </a:rPr>
                <a:t>nunca por public LB</a:t>
              </a:r>
            </a:p>
          </p:txBody>
        </p:sp>
        <p:sp>
          <p:nvSpPr>
            <p:cNvPr id="37" name="Freeform 37"/>
            <p:cNvSpPr/>
            <p:nvPr/>
          </p:nvSpPr>
          <p:spPr>
            <a:xfrm>
              <a:off x="10001250" y="3667125"/>
              <a:ext cx="476250" cy="9525"/>
            </a:xfrm>
            <a:custGeom>
              <a:avLst/>
              <a:gdLst/>
              <a:ahLst/>
              <a:cxnLst/>
              <a:rect l="l" t="t" r="r" b="b"/>
              <a:pathLst>
                <a:path w="476250" h="9525">
                  <a:moveTo>
                    <a:pt x="0" y="0"/>
                  </a:moveTo>
                  <a:lnTo>
                    <a:pt x="476250" y="0"/>
                  </a:lnTo>
                </a:path>
              </a:pathLst>
            </a:custGeom>
            <a:noFill/>
            <a:ln w="19050">
              <a:solidFill>
                <a:srgbClr val="2C2A25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10477500" y="3238500"/>
              <a:ext cx="1143000" cy="857250"/>
            </a:xfrm>
            <a:custGeom>
              <a:avLst/>
              <a:gdLst/>
              <a:ahLst/>
              <a:cxnLst/>
              <a:rect l="l" t="t" r="r" b="b"/>
              <a:pathLst>
                <a:path w="1143000" h="857250">
                  <a:moveTo>
                    <a:pt x="95250" y="0"/>
                  </a:moveTo>
                  <a:lnTo>
                    <a:pt x="1047750" y="0"/>
                  </a:lnTo>
                  <a:cubicBezTo>
                    <a:pt x="1100355" y="0"/>
                    <a:pt x="1143000" y="42645"/>
                    <a:pt x="1143000" y="95250"/>
                  </a:cubicBezTo>
                  <a:lnTo>
                    <a:pt x="1143000" y="762000"/>
                  </a:lnTo>
                  <a:cubicBezTo>
                    <a:pt x="1143000" y="814605"/>
                    <a:pt x="1100355" y="857250"/>
                    <a:pt x="1047750" y="857250"/>
                  </a:cubicBezTo>
                  <a:lnTo>
                    <a:pt x="95250" y="857250"/>
                  </a:lnTo>
                  <a:cubicBezTo>
                    <a:pt x="42645" y="857250"/>
                    <a:pt x="0" y="814605"/>
                    <a:pt x="0" y="7620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16A34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0508147" y="3498056"/>
              <a:ext cx="108170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5" b="1" dirty="0">
                  <a:solidFill>
                    <a:srgbClr val="FDFCF9"/>
                  </a:solidFill>
                  <a:latin typeface="Arial"/>
                  <a:ea typeface="Microsoft YaHei"/>
                  <a:cs typeface="Arial"/>
                </a:rPr>
                <a:t>submission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852737" y="3723799"/>
              <a:ext cx="39252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75" dirty="0">
                  <a:solidFill>
                    <a:srgbClr val="FDFCF9"/>
                  </a:solidFill>
                  <a:latin typeface="Arial"/>
                  <a:ea typeface="Microsoft YaHei"/>
                  <a:cs typeface="Arial"/>
                </a:rPr>
                <a:t>.csv</a:t>
              </a:r>
            </a:p>
          </p:txBody>
        </p:sp>
        <p:sp>
          <p:nvSpPr>
            <p:cNvPr id="41" name="Freeform 41"/>
            <p:cNvSpPr/>
            <p:nvPr/>
          </p:nvSpPr>
          <p:spPr>
            <a:xfrm>
              <a:off x="762000" y="5953125"/>
              <a:ext cx="10858500" cy="571500"/>
            </a:xfrm>
            <a:custGeom>
              <a:avLst/>
              <a:gdLst/>
              <a:ahLst/>
              <a:cxnLst/>
              <a:rect l="l" t="t" r="r" b="b"/>
              <a:pathLst>
                <a:path w="10858500" h="571500">
                  <a:moveTo>
                    <a:pt x="95250" y="0"/>
                  </a:moveTo>
                  <a:lnTo>
                    <a:pt x="10763250" y="0"/>
                  </a:lnTo>
                  <a:cubicBezTo>
                    <a:pt x="10815855" y="0"/>
                    <a:pt x="10858500" y="42645"/>
                    <a:pt x="10858500" y="95250"/>
                  </a:cubicBezTo>
                  <a:lnTo>
                    <a:pt x="10858500" y="476250"/>
                  </a:lnTo>
                  <a:cubicBezTo>
                    <a:pt x="10858500" y="528855"/>
                    <a:pt x="10815855" y="571500"/>
                    <a:pt x="10763250" y="571500"/>
                  </a:cubicBezTo>
                  <a:lnTo>
                    <a:pt x="95250" y="571500"/>
                  </a:lnTo>
                  <a:cubicBezTo>
                    <a:pt x="42645" y="571500"/>
                    <a:pt x="0" y="528855"/>
                    <a:pt x="0" y="4762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5F3ED"/>
            </a:solidFill>
            <a:ln w="9525">
              <a:solidFill>
                <a:srgbClr val="DDD9D0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032510" y="6176010"/>
              <a:ext cx="1100709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4A4640"/>
                  </a:solidFill>
                  <a:latin typeface="Arial"/>
                  <a:ea typeface="Microsoft YaHei"/>
                  <a:cs typeface="Arial"/>
                </a:rPr>
                <a:t>Regla de adopción: el blend/stacking solo reemplaza al mejor individual si lo supera en CV — la complejidad también cuesta reproducibilidad.</a:t>
              </a:r>
            </a:p>
          </p:txBody>
        </p:sp>
      </p:grpSp>
    </p:spTree>
  </p:cSld>
  <p:clrMapOvr>
    <a:masterClrMapping/>
  </p:clrMapOvr>
  <p:transition 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CF9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48665" y="553402"/>
            <a:ext cx="27450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spc="300" dirty="0">
                <a:solidFill>
                  <a:srgbClr val="6B665D"/>
                </a:solidFill>
                <a:latin typeface="Arial"/>
                <a:ea typeface="Microsoft YaHei"/>
                <a:cs typeface="Arial"/>
              </a:rPr>
              <a:t>10 · VALIDACIÓN Y RUTA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23900" y="819150"/>
            <a:ext cx="737997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000" dirty="0">
                <a:solidFill>
                  <a:srgbClr val="1A1814"/>
                </a:solidFill>
                <a:latin typeface="Georgia"/>
                <a:ea typeface="SimSun"/>
                <a:cs typeface="Georgia"/>
              </a:rPr>
              <a:t>Cómo medimos sin engañarnos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762000" y="1524000"/>
            <a:ext cx="10668000" cy="2190750"/>
            <a:chOff x="762000" y="1524000"/>
            <a:chExt cx="10668000" cy="2190750"/>
          </a:xfrm>
        </p:grpSpPr>
        <p:sp>
          <p:nvSpPr>
            <p:cNvPr id="5" name="Freeform 5"/>
            <p:cNvSpPr/>
            <p:nvPr/>
          </p:nvSpPr>
          <p:spPr>
            <a:xfrm>
              <a:off x="762000" y="1524000"/>
              <a:ext cx="3429000" cy="2190750"/>
            </a:xfrm>
            <a:custGeom>
              <a:avLst/>
              <a:gdLst/>
              <a:ahLst/>
              <a:cxnLst/>
              <a:rect l="l" t="t" r="r" b="b"/>
              <a:pathLst>
                <a:path w="3429000" h="2190750">
                  <a:moveTo>
                    <a:pt x="114300" y="0"/>
                  </a:moveTo>
                  <a:lnTo>
                    <a:pt x="3314700" y="0"/>
                  </a:lnTo>
                  <a:cubicBezTo>
                    <a:pt x="3377826" y="0"/>
                    <a:pt x="3429000" y="51174"/>
                    <a:pt x="3429000" y="114300"/>
                  </a:cubicBezTo>
                  <a:lnTo>
                    <a:pt x="3429000" y="2076450"/>
                  </a:lnTo>
                  <a:cubicBezTo>
                    <a:pt x="3429000" y="2139576"/>
                    <a:pt x="3377826" y="2190750"/>
                    <a:pt x="3314700" y="2190750"/>
                  </a:cubicBezTo>
                  <a:lnTo>
                    <a:pt x="114300" y="2190750"/>
                  </a:lnTo>
                  <a:cubicBezTo>
                    <a:pt x="51174" y="2190750"/>
                    <a:pt x="0" y="2139576"/>
                    <a:pt x="0" y="20764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5F3ED"/>
            </a:solidFill>
            <a:ln w="9525">
              <a:solidFill>
                <a:srgbClr val="DDD9D0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030605" y="1759268"/>
              <a:ext cx="200283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A1814"/>
                  </a:solidFill>
                  <a:latin typeface="Arial"/>
                  <a:ea typeface="Microsoft YaHei"/>
                  <a:cs typeface="Arial"/>
                </a:rPr>
                <a:t>Desarrollo diario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33462" y="2088356"/>
              <a:ext cx="320147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4A4640"/>
                  </a:solidFill>
                  <a:latin typeface="Arial"/>
                  <a:ea typeface="Microsoft YaHei"/>
                  <a:cs typeface="Arial"/>
                </a:rPr>
                <a:t>StratifiedKFold 5-fold, seed fija.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33462" y="2316956"/>
              <a:ext cx="282535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4A4640"/>
                  </a:solidFill>
                  <a:latin typeface="Arial"/>
                  <a:ea typeface="Microsoft YaHei"/>
                  <a:cs typeface="Arial"/>
                </a:rPr>
                <a:t>Métrica de control: AUC OOF.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33462" y="2545556"/>
              <a:ext cx="254567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4A4640"/>
                  </a:solidFill>
                  <a:latin typeface="Arial"/>
                  <a:ea typeface="Microsoft YaHei"/>
                  <a:cs typeface="Arial"/>
                </a:rPr>
                <a:t>Early stopping 200 rondas.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33462" y="2926556"/>
              <a:ext cx="319182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6B665D"/>
                  </a:solidFill>
                  <a:latin typeface="Arial"/>
                  <a:ea typeface="Microsoft YaHei"/>
                  <a:cs typeface="Arial"/>
                </a:rPr>
                <a:t>Estratificar = cada fold conserva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33462" y="3136106"/>
              <a:ext cx="196703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6B665D"/>
                  </a:solidFill>
                  <a:latin typeface="Arial"/>
                  <a:ea typeface="Microsoft YaHei"/>
                  <a:cs typeface="Arial"/>
                </a:rPr>
                <a:t>el 8.1% de positivos.</a:t>
              </a:r>
            </a:p>
          </p:txBody>
        </p:sp>
        <p:sp>
          <p:nvSpPr>
            <p:cNvPr id="12" name="Freeform 12"/>
            <p:cNvSpPr/>
            <p:nvPr/>
          </p:nvSpPr>
          <p:spPr>
            <a:xfrm>
              <a:off x="4381500" y="1524000"/>
              <a:ext cx="3429000" cy="2190750"/>
            </a:xfrm>
            <a:custGeom>
              <a:avLst/>
              <a:gdLst/>
              <a:ahLst/>
              <a:cxnLst/>
              <a:rect l="l" t="t" r="r" b="b"/>
              <a:pathLst>
                <a:path w="3429000" h="2190750">
                  <a:moveTo>
                    <a:pt x="114300" y="0"/>
                  </a:moveTo>
                  <a:lnTo>
                    <a:pt x="3314700" y="0"/>
                  </a:lnTo>
                  <a:cubicBezTo>
                    <a:pt x="3377826" y="0"/>
                    <a:pt x="3429000" y="51174"/>
                    <a:pt x="3429000" y="114300"/>
                  </a:cubicBezTo>
                  <a:lnTo>
                    <a:pt x="3429000" y="2076450"/>
                  </a:lnTo>
                  <a:cubicBezTo>
                    <a:pt x="3429000" y="2139576"/>
                    <a:pt x="3377826" y="2190750"/>
                    <a:pt x="3314700" y="2190750"/>
                  </a:cubicBezTo>
                  <a:lnTo>
                    <a:pt x="114300" y="2190750"/>
                  </a:lnTo>
                  <a:cubicBezTo>
                    <a:pt x="51174" y="2190750"/>
                    <a:pt x="0" y="2139576"/>
                    <a:pt x="0" y="20764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5F3ED"/>
            </a:solidFill>
            <a:ln w="9525">
              <a:solidFill>
                <a:srgbClr val="DDD9D0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650105" y="1759268"/>
              <a:ext cx="214865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A1814"/>
                  </a:solidFill>
                  <a:latin typeface="Arial"/>
                  <a:ea typeface="Microsoft YaHei"/>
                  <a:cs typeface="Arial"/>
                </a:rPr>
                <a:t>Selección del final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652962" y="2088356"/>
              <a:ext cx="275784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4A4640"/>
                  </a:solidFill>
                  <a:latin typeface="Arial"/>
                  <a:ea typeface="Microsoft YaHei"/>
                  <a:cs typeface="Arial"/>
                </a:rPr>
                <a:t>Repeated StratifiedKFold 3×5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652962" y="2316956"/>
              <a:ext cx="300859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4A4640"/>
                  </a:solidFill>
                  <a:latin typeface="Arial"/>
                  <a:ea typeface="Microsoft YaHei"/>
                  <a:cs typeface="Arial"/>
                </a:rPr>
                <a:t>(seeds 42/43/44) → mean ± std.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52962" y="2545556"/>
              <a:ext cx="271926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4A4640"/>
                  </a:solidFill>
                  <a:latin typeface="Arial"/>
                  <a:ea typeface="Microsoft YaHei"/>
                  <a:cs typeface="Arial"/>
                </a:rPr>
                <a:t>Decisión: nunca por public LB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52962" y="2755106"/>
              <a:ext cx="286392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4A4640"/>
                  </a:solidFill>
                  <a:latin typeface="Arial"/>
                  <a:ea typeface="Microsoft YaHei"/>
                  <a:cs typeface="Arial"/>
                </a:rPr>
                <a:t>(es un subset → sobreajuste).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52962" y="3136106"/>
              <a:ext cx="296037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6B665D"/>
                  </a:solidFill>
                  <a:latin typeface="Arial"/>
                  <a:ea typeface="Microsoft YaHei"/>
                  <a:cs typeface="Arial"/>
                </a:rPr>
                <a:t>Decisión de Mario, 2026-10-09.</a:t>
              </a:r>
            </a:p>
          </p:txBody>
        </p:sp>
        <p:sp>
          <p:nvSpPr>
            <p:cNvPr id="19" name="Freeform 19"/>
            <p:cNvSpPr/>
            <p:nvPr/>
          </p:nvSpPr>
          <p:spPr>
            <a:xfrm>
              <a:off x="8001000" y="1524000"/>
              <a:ext cx="3429000" cy="2190750"/>
            </a:xfrm>
            <a:custGeom>
              <a:avLst/>
              <a:gdLst/>
              <a:ahLst/>
              <a:cxnLst/>
              <a:rect l="l" t="t" r="r" b="b"/>
              <a:pathLst>
                <a:path w="3429000" h="2190750">
                  <a:moveTo>
                    <a:pt x="114300" y="0"/>
                  </a:moveTo>
                  <a:lnTo>
                    <a:pt x="3314700" y="0"/>
                  </a:lnTo>
                  <a:cubicBezTo>
                    <a:pt x="3377826" y="0"/>
                    <a:pt x="3429000" y="51174"/>
                    <a:pt x="3429000" y="114300"/>
                  </a:cubicBezTo>
                  <a:lnTo>
                    <a:pt x="3429000" y="2076450"/>
                  </a:lnTo>
                  <a:cubicBezTo>
                    <a:pt x="3429000" y="2139576"/>
                    <a:pt x="3377826" y="2190750"/>
                    <a:pt x="3314700" y="2190750"/>
                  </a:cubicBezTo>
                  <a:lnTo>
                    <a:pt x="114300" y="2190750"/>
                  </a:lnTo>
                  <a:cubicBezTo>
                    <a:pt x="51174" y="2190750"/>
                    <a:pt x="0" y="2139576"/>
                    <a:pt x="0" y="20764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DFCF9"/>
            </a:solidFill>
            <a:ln w="9525">
              <a:solidFill>
                <a:srgbClr val="D97706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269605" y="1759268"/>
              <a:ext cx="184486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D97706"/>
                  </a:solidFill>
                  <a:latin typeface="Arial"/>
                  <a:ea typeface="Microsoft YaHei"/>
                  <a:cs typeface="Arial"/>
                </a:rPr>
                <a:t>Señal de alarma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272462" y="2088356"/>
              <a:ext cx="257460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4A4640"/>
                  </a:solidFill>
                  <a:latin typeface="Arial"/>
                  <a:ea typeface="Microsoft YaHei"/>
                  <a:cs typeface="Arial"/>
                </a:rPr>
                <a:t>Si |CV − LB| &gt; 0.02 → parar y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272462" y="2297906"/>
              <a:ext cx="259389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4A4640"/>
                  </a:solidFill>
                  <a:latin typeface="Arial"/>
                  <a:ea typeface="Microsoft YaHei"/>
                  <a:cs typeface="Arial"/>
                </a:rPr>
                <a:t>arreglar validación primero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272462" y="2507456"/>
              <a:ext cx="24299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4A4640"/>
                  </a:solidFill>
                  <a:latin typeface="Arial"/>
                  <a:ea typeface="Microsoft YaHei"/>
                  <a:cs typeface="Arial"/>
                </a:rPr>
                <a:t>(domain shift o leakage).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272462" y="2888456"/>
              <a:ext cx="269998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4A4640"/>
                  </a:solidFill>
                  <a:latin typeface="Arial"/>
                  <a:ea typeface="Microsoft YaHei"/>
                  <a:cs typeface="Arial"/>
                </a:rPr>
                <a:t>Adversarial validation (M4):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272462" y="3098006"/>
              <a:ext cx="285428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4A4640"/>
                  </a:solidFill>
                  <a:latin typeface="Arial"/>
                  <a:ea typeface="Microsoft YaHei"/>
                  <a:cs typeface="Arial"/>
                </a:rPr>
                <a:t>AUC train-vs-test &lt; 0.6 = OK.</a:t>
              </a:r>
            </a:p>
          </p:txBody>
        </p:sp>
      </p:grpSp>
      <p:sp>
        <p:nvSpPr>
          <p:cNvPr id="27" name="Line 27"/>
          <p:cNvSpPr/>
          <p:nvPr/>
        </p:nvSpPr>
        <p:spPr>
          <a:xfrm>
            <a:off x="952500" y="4857750"/>
            <a:ext cx="10287000" cy="9525"/>
          </a:xfrm>
          <a:custGeom>
            <a:avLst/>
            <a:gdLst/>
            <a:ahLst/>
            <a:cxnLst/>
            <a:rect l="l" t="t" r="r" b="b"/>
            <a:pathLst>
              <a:path w="10287000" h="9525">
                <a:moveTo>
                  <a:pt x="0" y="0"/>
                </a:moveTo>
                <a:lnTo>
                  <a:pt x="10287000" y="0"/>
                </a:lnTo>
              </a:path>
            </a:pathLst>
          </a:custGeom>
          <a:noFill/>
          <a:ln w="19050">
            <a:solidFill>
              <a:srgbClr val="2C2A25"/>
            </a:solidFill>
          </a:ln>
        </p:spPr>
      </p:sp>
      <p:grpSp>
        <p:nvGrpSpPr>
          <p:cNvPr id="43" name="Group 43"/>
          <p:cNvGrpSpPr/>
          <p:nvPr/>
        </p:nvGrpSpPr>
        <p:grpSpPr>
          <a:xfrm>
            <a:off x="951619" y="4450556"/>
            <a:ext cx="10186023" cy="833438"/>
            <a:chOff x="951619" y="4450556"/>
            <a:chExt cx="10186023" cy="833438"/>
          </a:xfrm>
        </p:grpSpPr>
        <p:sp>
          <p:nvSpPr>
            <p:cNvPr id="28" name="Ellipse 28"/>
            <p:cNvSpPr/>
            <p:nvPr/>
          </p:nvSpPr>
          <p:spPr>
            <a:xfrm>
              <a:off x="1438275" y="4772025"/>
              <a:ext cx="171450" cy="171450"/>
            </a:xfrm>
            <a:prstGeom prst="ellipse">
              <a:avLst/>
            </a:prstGeom>
            <a:solidFill>
              <a:srgbClr val="16A34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52768" y="4450556"/>
              <a:ext cx="114246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5" b="1" dirty="0">
                  <a:solidFill>
                    <a:srgbClr val="1A1814"/>
                  </a:solidFill>
                  <a:latin typeface="Arial"/>
                  <a:ea typeface="Microsoft YaHei"/>
                  <a:cs typeface="Arial"/>
                </a:rPr>
                <a:t>M1 · 16 oct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51619" y="5085874"/>
              <a:ext cx="11447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75" dirty="0">
                  <a:solidFill>
                    <a:srgbClr val="6B665D"/>
                  </a:solidFill>
                  <a:latin typeface="Arial"/>
                  <a:ea typeface="Microsoft YaHei"/>
                  <a:cs typeface="Arial"/>
                </a:rPr>
                <a:t>Baseline en LB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3533775" y="4772025"/>
              <a:ext cx="171450" cy="171450"/>
            </a:xfrm>
            <a:prstGeom prst="ellipse">
              <a:avLst/>
            </a:prstGeom>
            <a:solidFill>
              <a:srgbClr val="2C2A25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048268" y="4450556"/>
              <a:ext cx="114246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5" b="1" dirty="0">
                  <a:solidFill>
                    <a:srgbClr val="1A1814"/>
                  </a:solidFill>
                  <a:latin typeface="Arial"/>
                  <a:ea typeface="Microsoft YaHei"/>
                  <a:cs typeface="Arial"/>
                </a:rPr>
                <a:t>M2 · 23 oct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034582" y="5085874"/>
              <a:ext cx="116983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75" dirty="0">
                  <a:solidFill>
                    <a:srgbClr val="6B665D"/>
                  </a:solidFill>
                  <a:latin typeface="Arial"/>
                  <a:ea typeface="Microsoft YaHei"/>
                  <a:cs typeface="Arial"/>
                </a:rPr>
                <a:t>Ensemble base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5819775" y="4772025"/>
              <a:ext cx="171450" cy="171450"/>
            </a:xfrm>
            <a:prstGeom prst="ellipse">
              <a:avLst/>
            </a:prstGeom>
            <a:solidFill>
              <a:srgbClr val="2C2A25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389962" y="4450556"/>
              <a:ext cx="103107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5" b="1" dirty="0">
                  <a:solidFill>
                    <a:srgbClr val="1A1814"/>
                  </a:solidFill>
                  <a:latin typeface="Arial"/>
                  <a:ea typeface="Microsoft YaHei"/>
                  <a:cs typeface="Arial"/>
                </a:rPr>
                <a:t>M3 · 6 nov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768941" y="5085874"/>
              <a:ext cx="227311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75" dirty="0">
                  <a:solidFill>
                    <a:srgbClr val="6B665D"/>
                  </a:solidFill>
                  <a:latin typeface="Arial"/>
                  <a:ea typeface="Microsoft YaHei"/>
                  <a:cs typeface="Arial"/>
                </a:rPr>
                <a:t>Mínimos (red de seguridad)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8105775" y="4772025"/>
              <a:ext cx="171450" cy="171450"/>
            </a:xfrm>
            <a:prstGeom prst="ellipse">
              <a:avLst/>
            </a:prstGeom>
            <a:solidFill>
              <a:srgbClr val="2C2A25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268" y="4450556"/>
              <a:ext cx="114246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5" b="1" dirty="0">
                  <a:solidFill>
                    <a:srgbClr val="1A1814"/>
                  </a:solidFill>
                  <a:latin typeface="Arial"/>
                  <a:ea typeface="Microsoft YaHei"/>
                  <a:cs typeface="Arial"/>
                </a:rPr>
                <a:t>M4 · 15 nov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585686" y="5085874"/>
              <a:ext cx="12116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75" dirty="0">
                  <a:solidFill>
                    <a:srgbClr val="6B665D"/>
                  </a:solidFill>
                  <a:latin typeface="Arial"/>
                  <a:ea typeface="Microsoft YaHei"/>
                  <a:cs typeface="Arial"/>
                </a:rPr>
                <a:t>Métodos extra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10372725" y="4752975"/>
              <a:ext cx="209550" cy="209550"/>
            </a:xfrm>
            <a:prstGeom prst="ellipse">
              <a:avLst/>
            </a:prstGeom>
            <a:solidFill>
              <a:srgbClr val="DC2626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906268" y="4450556"/>
              <a:ext cx="114246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5" b="1" dirty="0">
                  <a:solidFill>
                    <a:srgbClr val="DC2626"/>
                  </a:solidFill>
                  <a:latin typeface="Arial"/>
                  <a:ea typeface="Microsoft YaHei"/>
                  <a:cs typeface="Arial"/>
                </a:rPr>
                <a:t>M5 · 18 nov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817358" y="5085874"/>
              <a:ext cx="13202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75" dirty="0">
                  <a:solidFill>
                    <a:srgbClr val="6B665D"/>
                  </a:solidFill>
                  <a:latin typeface="Arial"/>
                  <a:ea typeface="Microsoft YaHei"/>
                  <a:cs typeface="Arial"/>
                </a:rPr>
                <a:t>Submission final</a:t>
              </a:r>
            </a:p>
          </p:txBody>
        </p:sp>
      </p:grpSp>
      <p:sp>
        <p:nvSpPr>
          <p:cNvPr id="44" name="Freeform 44"/>
          <p:cNvSpPr/>
          <p:nvPr/>
        </p:nvSpPr>
        <p:spPr>
          <a:xfrm>
            <a:off x="762000" y="5715000"/>
            <a:ext cx="10668000" cy="666750"/>
          </a:xfrm>
          <a:custGeom>
            <a:avLst/>
            <a:gdLst/>
            <a:ahLst/>
            <a:cxnLst/>
            <a:rect l="l" t="t" r="r" b="b"/>
            <a:pathLst>
              <a:path w="10668000" h="666750">
                <a:moveTo>
                  <a:pt x="95250" y="0"/>
                </a:moveTo>
                <a:lnTo>
                  <a:pt x="10572750" y="0"/>
                </a:lnTo>
                <a:cubicBezTo>
                  <a:pt x="10625355" y="0"/>
                  <a:pt x="10668000" y="42645"/>
                  <a:pt x="10668000" y="95250"/>
                </a:cubicBezTo>
                <a:lnTo>
                  <a:pt x="10668000" y="571500"/>
                </a:lnTo>
                <a:cubicBezTo>
                  <a:pt x="10668000" y="624105"/>
                  <a:pt x="10625355" y="666750"/>
                  <a:pt x="10572750" y="666750"/>
                </a:cubicBezTo>
                <a:lnTo>
                  <a:pt x="95250" y="666750"/>
                </a:lnTo>
                <a:cubicBezTo>
                  <a:pt x="42645" y="666750"/>
                  <a:pt x="0" y="624105"/>
                  <a:pt x="0" y="5715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3ED"/>
          </a:solidFill>
          <a:ln w="9525">
            <a:solidFill>
              <a:srgbClr val="DDD9D0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1032510" y="5852160"/>
            <a:ext cx="997800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4A4640"/>
                </a:solidFill>
                <a:latin typeface="Arial"/>
                <a:ea typeface="Microsoft YaHei"/>
                <a:cs typeface="Arial"/>
              </a:rPr>
              <a:t>Siguiente paso (Sprint 1): EDA → baseline con nuevas features → primer submission y lectura del LB.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032510" y="6099810"/>
            <a:ext cx="590435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4A4640"/>
                </a:solidFill>
                <a:latin typeface="Arial"/>
                <a:ea typeface="Microsoft YaHei"/>
                <a:cs typeface="Arial"/>
              </a:rPr>
              <a:t>Detalle en Linear (GCI World); spec técnica en project.md.</a:t>
            </a:r>
          </a:p>
        </p:txBody>
      </p:sp>
    </p:spTree>
  </p:cSld>
  <p:clrMapOvr>
    <a:masterClrMapping/>
  </p:clrMapOvr>
  <p:transition 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